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5c01067-0a60-09dc-ff33-68cec513340a}">
          <p14:sldIdLst>
            <p14:sldId id="256"/>
            <p14:sldId id="257"/>
          </p14:sldIdLst>
        </p14:section>
        <p14:section name="Method" id="{b5880133-ea7e-f0b1-86ca-4125715ef11c}">
          <p14:sldIdLst>
            <p14:sldId id="258"/>
            <p14:sldId id="259"/>
            <p14:sldId id="260"/>
            <p14:sldId id="261"/>
            <p14:sldId id="262"/>
            <p14:sldId id="263"/>
          </p14:sldIdLst>
        </p14:section>
        <p14:section name="Results" id="{789cb14b-bf54-8e48-3532-dcb048278a9f}">
          <p14:sldIdLst>
            <p14:sldId id="264"/>
            <p14:sldId id="265"/>
            <p14:sldId id="266"/>
            <p14:sldId id="267"/>
            <p14:sldId id="268"/>
            <p14:sldId id="269"/>
            <p14:sldId id="270"/>
            <p14:sldId id="271"/>
            <p14:sldId id="272"/>
          </p14:sldIdLst>
        </p14:section>
        <p14:section name="Dropped" id="{d4205c17-fd4a-f5ff-f557-a007e9cae754}">
          <p14:sldIdLst>
            <p14:sldId id="273"/>
            <p14:sldId id="274"/>
            <p14:sldId id="275"/>
            <p14:sldId id="276"/>
          </p14:sldIdLst>
        </p14:section>
        <p14:section name="Closing" id="{0447b389-ebe1-6b82-c1fb-2613a994c016}">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Policy success when trained on each kind of demo</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9AA39C"/>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dPt>
            <c:idx val="0"/>
            <c:invertIfNegative val="0"/>
            <c:bubble3D val="0"/>
            <c:spPr>
              <a:solidFill>
                <a:srgbClr val="9AA39C"/>
              </a:solidFill>
              <a:effectLst/>
            </c:spPr>
          </c:dPt>
          <c:dPt>
            <c:idx val="1"/>
            <c:invertIfNegative val="0"/>
            <c:bubble3D val="0"/>
            <c:spPr>
              <a:solidFill>
                <a:srgbClr val="D9601F"/>
              </a:solidFill>
              <a:effectLst/>
            </c:spPr>
          </c:dPt>
          <c:dPt>
            <c:idx val="2"/>
            <c:invertIfNegative val="0"/>
            <c:bubble3D val="0"/>
            <c:spPr>
              <a:solidFill>
                <a:srgbClr val="5E7A86"/>
              </a:solidFill>
              <a:effectLst/>
            </c:spPr>
          </c:dPt>
          <c:cat>
            <c:multiLvlStrRef>
              <c:f>Sheet1!$A$2:$A$4</c:f>
              <c:multiLvlStrCache>
                <c:ptCount val="3"/>
                <c:lvl>
                  <c:pt idx="0">
                    <c:v>Raw hand path</c:v>
                  </c:pt>
                  <c:pt idx="1">
                    <c:v>Human keyframes</c:v>
                  </c:pt>
                  <c:pt idx="2">
                    <c:v>Scripted expert</c:v>
                  </c:pt>
                </c:lvl>
              </c:multiLvlStrCache>
            </c:multiLvlStrRef>
          </c:cat>
          <c:val>
            <c:numRef>
              <c:f>Sheet1!$B$2:$B$4</c:f>
              <c:numCache>
                <c:formatCode>General</c:formatCode>
                <c:ptCount val="3"/>
                <c:pt idx="0">
                  <c:v>25.8</c:v>
                </c:pt>
                <c:pt idx="1">
                  <c:v>76.2</c:v>
                </c:pt>
                <c:pt idx="2">
                  <c:v>100</c:v>
                </c:pt>
              </c:numCache>
            </c:numRef>
          </c:val>
        </c:ser>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Same ResNet-18 policy, 128 episodes</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D9601F"/>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Sheet1!$A$2:$A$3</c:f>
              <c:multiLvlStrCache>
                <c:ptCount val="2"/>
                <c:lvl>
                  <c:pt idx="0">
                    <c:v>Target concatenated after the encoders</c:v>
                  </c:pt>
                  <c:pt idx="1">
                    <c:v>FiLM in every encoder stage</c:v>
                  </c:pt>
                </c:lvl>
              </c:multiLvlStrCache>
            </c:multiLvlStrRef>
          </c:cat>
          <c:val>
            <c:numRef>
              <c:f>Sheet1!$B$2:$B$3</c:f>
              <c:numCache>
                <c:formatCode>General</c:formatCode>
                <c:ptCount val="2"/>
                <c:pt idx="0">
                  <c:v>27.3</c:v>
                </c:pt>
                <c:pt idx="1">
                  <c:v>97.7</c:v>
                </c:pt>
              </c:numCache>
            </c:numRef>
          </c:val>
        </c:ser>
        <c:ser>
          <c:idx val="1"/>
          <c:order val="1"/>
          <c:tx>
            <c:strRef>
              <c:f>Sheet1!$C$1</c:f>
              <c:strCache>
                <c:ptCount val="1"/>
                <c:pt idx="0">
                  <c:v>Wrong fruit in bowl</c:v>
                </c:pt>
              </c:strCache>
            </c:strRef>
          </c:tx>
          <c:spPr>
            <a:solidFill>
              <a:srgbClr val="B23A2E"/>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Sheet1!$A$2:$A$3</c:f>
              <c:multiLvlStrCache>
                <c:ptCount val="2"/>
                <c:lvl>
                  <c:pt idx="0">
                    <c:v>Target concatenated after the encoders</c:v>
                  </c:pt>
                  <c:pt idx="1">
                    <c:v>FiLM in every encoder stage</c:v>
                  </c:pt>
                </c:lvl>
              </c:multiLvlStrCache>
            </c:multiLvlStrRef>
          </c:cat>
          <c:val>
            <c:numRef>
              <c:f>Sheet1!$C$2:$C$3</c:f>
              <c:numCache>
                <c:formatCode>General</c:formatCode>
                <c:ptCount val="2"/>
                <c:pt idx="0">
                  <c:v>50.8</c:v>
                </c:pt>
                <c:pt idx="1">
                  <c:v>0</c:v>
                </c:pt>
              </c:numCache>
            </c:numRef>
          </c:val>
        </c:ser>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F3B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Success, 150 episodes each; wrong fruit 0% in every set</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D9601F"/>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Sheet1!$A$2:$A$5</c:f>
              <c:multiLvlStrCache>
                <c:ptCount val="4"/>
                <c:lvl>
                  <c:pt idx="0">
                    <c:v>Validation</c:v>
                  </c:pt>
                  <c:pt idx="1">
                    <c:v>New random layouts</c:v>
                  </c:pt>
                  <c:pt idx="2">
                    <c:v>Unseen phrasings</c:v>
                  </c:pt>
                  <c:pt idx="3">
                    <c:v>My held-out layouts</c:v>
                  </c:pt>
                </c:lvl>
              </c:multiLvlStrCache>
            </c:multiLvlStrRef>
          </c:cat>
          <c:val>
            <c:numRef>
              <c:f>Sheet1!$B$2:$B$5</c:f>
              <c:numCache>
                <c:formatCode>General</c:formatCode>
                <c:ptCount val="4"/>
                <c:pt idx="0">
                  <c:v>96.1</c:v>
                </c:pt>
                <c:pt idx="1">
                  <c:v>96</c:v>
                </c:pt>
                <c:pt idx="2">
                  <c:v>95.3</c:v>
                </c:pt>
                <c:pt idx="3">
                  <c:v>86</c:v>
                </c:pt>
              </c:numCache>
            </c:numRef>
          </c:val>
        </c:ser>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New random layouts, 150 episodes each</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D9601F"/>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Sheet1!$A$2:$A$5</c:f>
              <c:multiLvlStrCache>
                <c:ptCount val="4"/>
                <c:lvl>
                  <c:pt idx="0">
                    <c:v>FiLM ResNet-18 (ours)</c:v>
                  </c:pt>
                  <c:pt idx="1">
                    <c:v>SmolVLA, 450M</c:v>
                  </c:pt>
                  <c:pt idx="2">
                    <c:v>Diffusion Policy</c:v>
                  </c:pt>
                  <c:pt idx="3">
                    <c:v>ACT</c:v>
                  </c:pt>
                </c:lvl>
              </c:multiLvlStrCache>
            </c:multiLvlStrRef>
          </c:cat>
          <c:val>
            <c:numRef>
              <c:f>Sheet1!$B$2:$B$5</c:f>
              <c:numCache>
                <c:formatCode>General</c:formatCode>
                <c:ptCount val="4"/>
                <c:pt idx="0">
                  <c:v>97.3</c:v>
                </c:pt>
                <c:pt idx="1">
                  <c:v>22</c:v>
                </c:pt>
                <c:pt idx="2">
                  <c:v>19.3</c:v>
                </c:pt>
                <c:pt idx="3">
                  <c:v>13.3</c:v>
                </c:pt>
              </c:numCache>
            </c:numRef>
          </c:val>
        </c:ser>
        <c:ser>
          <c:idx val="1"/>
          <c:order val="1"/>
          <c:tx>
            <c:strRef>
              <c:f>Sheet1!$C$1</c:f>
              <c:strCache>
                <c:ptCount val="1"/>
                <c:pt idx="0">
                  <c:v>Wrong fruit in bowl</c:v>
                </c:pt>
              </c:strCache>
            </c:strRef>
          </c:tx>
          <c:spPr>
            <a:solidFill>
              <a:srgbClr val="B23A2E"/>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Sheet1!$A$2:$A$5</c:f>
              <c:multiLvlStrCache>
                <c:ptCount val="4"/>
                <c:lvl>
                  <c:pt idx="0">
                    <c:v>FiLM ResNet-18 (ours)</c:v>
                  </c:pt>
                  <c:pt idx="1">
                    <c:v>SmolVLA, 450M</c:v>
                  </c:pt>
                  <c:pt idx="2">
                    <c:v>Diffusion Policy</c:v>
                  </c:pt>
                  <c:pt idx="3">
                    <c:v>ACT</c:v>
                  </c:pt>
                </c:lvl>
              </c:multiLvlStrCache>
            </c:multiLvlStrRef>
          </c:cat>
          <c:val>
            <c:numRef>
              <c:f>Sheet1!$C$2:$C$5</c:f>
              <c:numCache>
                <c:formatCode>General</c:formatCode>
                <c:ptCount val="4"/>
                <c:pt idx="0">
                  <c:v>0</c:v>
                </c:pt>
                <c:pt idx="1">
                  <c:v>6.7</c:v>
                </c:pt>
                <c:pt idx="2">
                  <c:v>52</c:v>
                </c:pt>
                <c:pt idx="3">
                  <c:v>16</c:v>
                </c:pt>
              </c:numCache>
            </c:numRef>
          </c:val>
        </c:ser>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F3B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Success, 150 episodes per bar, 771 demos each</a:t>
            </a:r>
          </a:p>
        </c:rich>
      </c:tx>
      <c:layout/>
      <c:overlay val="0"/>
    </c:title>
    <c:autoTitleDeleted val="0"/>
    <c:plotArea>
      <c:layout/>
      <c:barChart>
        <c:barDir val="col"/>
        <c:grouping val="clustered"/>
        <c:varyColors val="0"/>
        <c:ser>
          <c:idx val="0"/>
          <c:order val="0"/>
          <c:tx>
            <c:strRef>
              <c:f>Sheet1!$B$1</c:f>
              <c:strCache>
                <c:ptCount val="1"/>
                <c:pt idx="0">
                  <c:v>No human (scripted expert)</c:v>
                </c:pt>
              </c:strCache>
            </c:strRef>
          </c:tx>
          <c:spPr>
            <a:solidFill>
              <a:srgbClr val="9AA39C"/>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random layouts</c:v>
                  </c:pt>
                  <c:pt idx="1">
                    <c:v>My held-out layouts</c:v>
                  </c:pt>
                  <c:pt idx="2">
                    <c:v>Crowded layouts</c:v>
                  </c:pt>
                </c:lvl>
              </c:multiLvlStrCache>
            </c:multiLvlStrRef>
          </c:cat>
          <c:val>
            <c:numRef>
              <c:f>Sheet1!$B$2:$B$4</c:f>
              <c:numCache>
                <c:formatCode>General</c:formatCode>
                <c:ptCount val="3"/>
                <c:pt idx="0">
                  <c:v>90</c:v>
                </c:pt>
                <c:pt idx="1">
                  <c:v>84</c:v>
                </c:pt>
                <c:pt idx="2">
                  <c:v>85.3</c:v>
                </c:pt>
              </c:numCache>
            </c:numRef>
          </c:val>
        </c:ser>
        <c:ser>
          <c:idx val="1"/>
          <c:order val="1"/>
          <c:tx>
            <c:strRef>
              <c:f>Sheet1!$C$1</c:f>
              <c:strCache>
                <c:ptCount val="1"/>
                <c:pt idx="0">
                  <c:v>EgoDex video, 38 clips</c:v>
                </c:pt>
              </c:strCache>
            </c:strRef>
          </c:tx>
          <c:spPr>
            <a:solidFill>
              <a:srgbClr val="5E7A86"/>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random layouts</c:v>
                  </c:pt>
                  <c:pt idx="1">
                    <c:v>My held-out layouts</c:v>
                  </c:pt>
                  <c:pt idx="2">
                    <c:v>Crowded layouts</c:v>
                  </c:pt>
                </c:lvl>
              </c:multiLvlStrCache>
            </c:multiLvlStrRef>
          </c:cat>
          <c:val>
            <c:numRef>
              <c:f>Sheet1!$C$2:$C$4</c:f>
              <c:numCache>
                <c:formatCode>General</c:formatCode>
                <c:ptCount val="3"/>
                <c:pt idx="0">
                  <c:v>97.3</c:v>
                </c:pt>
                <c:pt idx="1">
                  <c:v>96</c:v>
                </c:pt>
                <c:pt idx="2">
                  <c:v>86.7</c:v>
                </c:pt>
              </c:numCache>
            </c:numRef>
          </c:val>
        </c:ser>
        <c:ser>
          <c:idx val="2"/>
          <c:order val="2"/>
          <c:tx>
            <c:strRef>
              <c:f>Sheet1!$D$1</c:f>
              <c:strCache>
                <c:ptCount val="1"/>
                <c:pt idx="0">
                  <c:v>My video, 24 clips</c:v>
                </c:pt>
              </c:strCache>
            </c:strRef>
          </c:tx>
          <c:spPr>
            <a:solidFill>
              <a:srgbClr val="D9601F"/>
            </a:solidFill>
            <a:effectLst/>
          </c:spPr>
          <c:invertIfNegative val="0"/>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random layouts</c:v>
                  </c:pt>
                  <c:pt idx="1">
                    <c:v>My held-out layouts</c:v>
                  </c:pt>
                  <c:pt idx="2">
                    <c:v>Crowded layouts</c:v>
                  </c:pt>
                </c:lvl>
              </c:multiLvlStrCache>
            </c:multiLvlStrRef>
          </c:cat>
          <c:val>
            <c:numRef>
              <c:f>Sheet1!$D$2:$D$4</c:f>
              <c:numCache>
                <c:formatCode>General</c:formatCode>
                <c:ptCount val="3"/>
                <c:pt idx="0">
                  <c:v>96</c:v>
                </c:pt>
                <c:pt idx="1">
                  <c:v>86</c:v>
                </c:pt>
                <c:pt idx="2">
                  <c:v>88</c:v>
                </c:pt>
              </c:numCache>
            </c:numRef>
          </c:val>
        </c:ser>
        <c:dLbls>
          <c:numFmt formatCode="0&quot;%&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9525" cap="flat">
              <a:solidFill>
                <a:srgbClr val="E3E6E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F3B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3B36"/>
                </a:solidFill>
                <a:latin typeface="+mn-lt"/>
              </a:defRPr>
            </a:pPr>
            <a:r>
              <a:rPr sz="1400" b="0" i="0" u="none" strike="noStrike">
                <a:solidFill>
                  <a:srgbClr val="2F3B36"/>
                </a:solidFill>
                <a:latin typeface="+mn-lt"/>
              </a:rPr>
              <a:t>Policy calls per second, batch 1, RTX 4090 Laptop (log scale)</a:t>
            </a:r>
          </a:p>
        </c:rich>
      </c:tx>
      <c:layout/>
      <c:overlay val="0"/>
    </c:title>
    <c:autoTitleDeleted val="0"/>
    <c:plotArea>
      <c:layout/>
      <c:barChart>
        <c:barDir val="bar"/>
        <c:grouping val="clustered"/>
        <c:varyColors val="0"/>
        <c:ser>
          <c:idx val="0"/>
          <c:order val="0"/>
          <c:tx>
            <c:strRef>
              <c:f>Sheet1!$B$1</c:f>
              <c:strCache>
                <c:ptCount val="1"/>
                <c:pt idx="0">
                  <c:v>calls per second</c:v>
                </c:pt>
              </c:strCache>
            </c:strRef>
          </c:tx>
          <c:spPr>
            <a:solidFill>
              <a:srgbClr val="D9601F"/>
            </a:solidFill>
            <a:effectLst/>
          </c:spPr>
          <c:invertIfNegative val="0"/>
          <c:dLbls>
            <c:numFmt formatCode="#,##0.#&quot;/s&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dPt>
            <c:idx val="0"/>
            <c:invertIfNegative val="0"/>
            <c:bubble3D val="0"/>
            <c:spPr>
              <a:solidFill>
                <a:srgbClr val="D9601F"/>
              </a:solidFill>
              <a:effectLst/>
            </c:spPr>
          </c:dPt>
          <c:dPt>
            <c:idx val="1"/>
            <c:invertIfNegative val="0"/>
            <c:bubble3D val="0"/>
            <c:spPr>
              <a:solidFill>
                <a:srgbClr val="D9601F"/>
              </a:solidFill>
              <a:effectLst/>
            </c:spPr>
          </c:dPt>
          <c:dPt>
            <c:idx val="2"/>
            <c:invertIfNegative val="0"/>
            <c:bubble3D val="0"/>
            <c:spPr>
              <a:solidFill>
                <a:srgbClr val="9AA39C"/>
              </a:solidFill>
              <a:effectLst/>
            </c:spPr>
          </c:dPt>
          <c:dPt>
            <c:idx val="3"/>
            <c:invertIfNegative val="0"/>
            <c:bubble3D val="0"/>
            <c:spPr>
              <a:solidFill>
                <a:srgbClr val="9AA39C"/>
              </a:solidFill>
              <a:effectLst/>
            </c:spPr>
          </c:dPt>
          <c:dPt>
            <c:idx val="4"/>
            <c:invertIfNegative val="0"/>
            <c:bubble3D val="0"/>
            <c:spPr>
              <a:solidFill>
                <a:srgbClr val="9AA39C"/>
              </a:solidFill>
              <a:effectLst/>
            </c:spPr>
          </c:dPt>
          <c:cat>
            <c:multiLvlStrRef>
              <c:f>Sheet1!$A$2:$A$6</c:f>
              <c:multiLvlStrCache>
                <c:ptCount val="5"/>
                <c:lvl>
                  <c:pt idx="0">
                    <c:v>FiLM, optimised</c:v>
                  </c:pt>
                  <c:pt idx="1">
                    <c:v>FiLM, fp32</c:v>
                  </c:pt>
                  <c:pt idx="2">
                    <c:v>ACT</c:v>
                  </c:pt>
                  <c:pt idx="3">
                    <c:v>SmolVLA</c:v>
                  </c:pt>
                  <c:pt idx="4">
                    <c:v>Diffusion Policy</c:v>
                  </c:pt>
                </c:lvl>
              </c:multiLvlStrCache>
            </c:multiLvlStrRef>
          </c:cat>
          <c:val>
            <c:numRef>
              <c:f>Sheet1!$B$2:$B$6</c:f>
              <c:numCache>
                <c:formatCode>General</c:formatCode>
                <c:ptCount val="5"/>
                <c:pt idx="0">
                  <c:v>1449</c:v>
                </c:pt>
                <c:pt idx="1">
                  <c:v>543</c:v>
                </c:pt>
                <c:pt idx="2">
                  <c:v>238</c:v>
                </c:pt>
                <c:pt idx="3">
                  <c:v>9.7</c:v>
                </c:pt>
                <c:pt idx="4">
                  <c:v>1.16</c:v>
                </c:pt>
              </c:numCache>
            </c:numRef>
          </c:val>
        </c:ser>
        <c:dLbls>
          <c:numFmt formatCode="#,##0.#&quot;/s&quot;" sourceLinked="0"/>
          <c:txPr>
            <a:bodyPr/>
            <a:lstStyle/>
            <a:p>
              <a:pPr>
                <a:defRPr b="0" i="0" strike="noStrike" sz="1100" u="none">
                  <a:solidFill>
                    <a:srgbClr val="1E24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F3B36"/>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0"/>
        <c:axPos val="b"/>
        <c:majorGridlines>
          <c:spPr>
            <a:ln w="9525" cap="flat">
              <a:solidFill>
                <a:srgbClr val="E3E6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9AA39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filmed my own hand putting a named fruit into a bowl, 30 short clips with an iPhone. From those clips a simulated Franka Panda in ManiSkill3 learns to follow instructions like 'put the mandarin in the bowl'. The image on the right is the key visual: my clip next to the robot replaying it, rendered from my phone's calibrated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 on random layouts and 86% on six layouts from my held-out clips, repeated over 150 episodes. No wrong-fruit placement was observed in these evaluations; that is not a guarantee. The 29/30 number is an earlier 240-step controller replay protocol. Other-policy scores here use EgoDex development data, not my recordings. My own-data SmolVLA training did not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is deliberately simple: a phone overhead, a printed calibration board, three fruits and a bowl. The board is visible in every clip, so each clip is calibrated on its own and the phone could move between clips. I varied the layout every clip so the policy has to find the named fruit by appearance, not by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turn a clip into robot data. The two that needed most care on my real footage: naming the fruit without a calibration clip, which I solved by learning each fruit's appearance from clips where the target is known; and finding the grasp, where the finger-gap rule failed because my hand enters with the fingers already close, so I use the scene instead: the grasp is where the pinch comes closest to the target fruit.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clean-start example the robot executes extracted keyframes in the fitted measured layout, rendered from the calibrated phone camera. Sheet alignment is a visual calibration check, not proof of exact geometry. Fourteen clips started with occupied bowls and use sampled replacement layouts in aggregate controller replay; do not describe those as exact-layout reconstructions.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replay and imitation are different problems. Retained privileged-state records give 25.8% for raw paths and 76.2% for keyframes. An earlier 91% styled result appears in the devlog but its detailed record was overwritten; I use the retained result. Data counts and generation protocols differ, so this is a diagnostic, not a clean causal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the instruction is the second key decision. If the target is only concatenated after the image features are computed, the network can ignore it and half the time puts the wrong fruit in the bowl. With FiLM the instruction shapes what each camera encoder attends to, from the first stage on. That is the difference between 27% and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random layouts the policy trained on my clips matches the development run at 96%, and it handles instructions phrased in ways it never saw. On the six layouts measured from held-out clips it reaches 86%; the crowded clip 5819 is the hardest. I report the first, buggy 73% too: clamping objects one by one had pushed a fruit into the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use the same EgoDex-derived demonstrations, but conditioning, preprocessing, pretraining and optimization differ. These are limited-tuning task-specific baselines, not an architecture-only ablation. Their errors often involve the target identity. No own-data SmolVLA score is available because that run did not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policy and demonstration count, but source and number of distinct human styles change together. One training seed per arm, 150 episodes per bar, and only six reserved own layouts repeated. Differences are exploratory, not established significance. Session-level calibration and appearance prototypes are shared, so this is not an independent perception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FiLM trained on my clips. Bottom: SmolVLA after 30k steps on EgoDex-derived development demonstrations. These examples use different training sources and are not a matched-data visual comparison. The own-data VLA run did not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arm completes 30 recorded-style trials and 128 random-layout trials. Fourteen occupied-bowl source starts are replaced by sampled layouts; only sixteen trials reconstruct fitted measured layouts. This is privileged controller replay with embodiment-specific adaptations, not zero-shot transfer of the learned image policy. WidowX uses custom IK, a different gripper command and a capped carry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 1.84 ms fp32, 0.69 ms compiled fp16; SmolVLA base: 103.49 ms. Ratios are about 150 per call and 75 per amortized executed action, since FiLM executes five and SmolVLA ten actions per call. Inputs are already prepared; perception, transfers, control and warm-up are excluded. All timings use PyTorch 2.10 / CUDA 12.8, including FiLM. Reported closed-loop success uses fp32; the optimized variant was not re-evaluated for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trained on 6,144 perturbed episodes from my 24 training styles. Outcome accuracy is 89.4% on 2,048 reserved-style episodes versus a reference at 83.9%. A separate rolling-origin test on 600 episodes keeps median fruit error below 1 cm for 2 seconds; this is not a tail bound or a safety certificate. Full-episode median final error is 6.2 cm. Disagreement predicts short-horizon positional error, not calibrated outcome confidence. Earlier policy-ranking failures used development models, not this fidelity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Top-down view, open loop: the model sees the real state only at the start and then imagines the whole episode from the actions. It follows the fruit into the bowl in the two successful episodes and predicts the third one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phone teleoperation system: the iPhone tracks my hand with ARKit and LiDAR and drives the simulated arm live. The tracking was good, but controlling the robot this way was too hard to record useful demonstrations in the time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tried to transfer the full hand to a five-finger Inspire hand. Orientation and finger retargeting worked, and I fixed several embodiment problems along the way, but no grasp geometry could lift these small fruits in this simulator, so I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smaller dead ends, each stopped on a measurement rather than a hunch.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does not show yet, and what I would do next with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6400800" cy="21945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3749040"/>
            <a:ext cx="6400800" cy="137160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1887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3611880"/>
            <a:ext cx="11064240" cy="91440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image" Target="../media/image-13-4.jp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6400800" cy="2194560"/>
          </a:xfrm>
          <a:prstGeom prst="rect">
            <a:avLst/>
          </a:prstGeom>
          <a:noFill/>
          <a:ln/>
        </p:spPr>
        <p:txBody>
          <a:bodyPr wrap="square" lIns="0" tIns="0" rIns="0" bIns="0" rtlCol="0" anchor="b"/>
          <a:lstStyle/>
          <a:p>
            <a:pPr algn="l" indent="0" marL="0">
              <a:buNone/>
            </a:pPr>
            <a:r>
              <a:rPr lang="en-US" sz="4000" b="1" dirty="0">
                <a:solidFill>
                  <a:schemeClr val="tx1"/>
                </a:solidFill>
              </a:rPr>
              <a:t>Human Video to Robot Manipulation</a:t>
            </a:r>
            <a:endParaRPr lang="en-US" sz="4000" dirty="0"/>
          </a:p>
        </p:txBody>
      </p:sp>
      <p:sp>
        <p:nvSpPr>
          <p:cNvPr id="3" name="Text 0"/>
          <p:cNvSpPr/>
          <p:nvPr>
            <p:ph idx="101" type="body" hasCustomPrompt="1"/>
          </p:nvPr>
        </p:nvSpPr>
        <p:spPr>
          <a:xfrm>
            <a:off x="548640" y="3749040"/>
            <a:ext cx="6400800" cy="1371600"/>
          </a:xfrm>
          <a:prstGeom prst="rect">
            <a:avLst/>
          </a:prstGeom>
          <a:noFill/>
          <a:ln/>
        </p:spPr>
        <p:txBody>
          <a:bodyPr wrap="square" lIns="0" tIns="0" rIns="0" bIns="0" rtlCol="0" anchor="t"/>
          <a:lstStyle/>
          <a:p>
            <a:pPr algn="l" indent="0" marL="0">
              <a:buNone/>
            </a:pPr>
            <a:r>
              <a:rPr lang="en-US" sz="1800" dirty="0">
                <a:solidFill>
                  <a:schemeClr val="tx2"/>
                </a:solidFill>
              </a:rPr>
              <a:t>30 phone clips of my own hand teach a simulated Panda to put the named fruit in the bowl</a:t>
            </a:r>
            <a:endParaRPr lang="en-US" sz="1800" dirty="0"/>
          </a:p>
        </p:txBody>
      </p:sp>
      <p:pic>
        <p:nvPicPr>
          <p:cNvPr id="4" name="twin_5791.jpg" descr="/home/mohamed/tries/2026-10-08-humanoid-internship-uk-plans/docs/presentation/assets/twin_5791.jpg">    </p:cNvPr>
          <p:cNvPicPr>
            <a:picLocks noChangeAspect="1"/>
          </p:cNvPicPr>
          <p:nvPr/>
        </p:nvPicPr>
        <p:blipFill>
          <a:blip r:embed="rId1"/>
          <a:stretch>
            <a:fillRect/>
          </a:stretch>
        </p:blipFill>
        <p:spPr>
          <a:xfrm>
            <a:off x="7406640" y="1260063"/>
            <a:ext cx="4206240" cy="3697793"/>
          </a:xfrm>
          <a:prstGeom prst="rect">
            <a:avLst/>
          </a:prstGeom>
        </p:spPr>
      </p:pic>
      <p:sp>
        <p:nvSpPr>
          <p:cNvPr id="5" name="Text 2"/>
          <p:cNvSpPr txBox="1"/>
          <p:nvPr/>
        </p:nvSpPr>
        <p:spPr>
          <a:xfrm>
            <a:off x="7406640" y="5349240"/>
            <a:ext cx="4206240" cy="548640"/>
          </a:xfrm>
          <a:prstGeom prst="rect">
            <a:avLst/>
          </a:prstGeom>
          <a:noFill/>
          <a:ln/>
        </p:spPr>
        <p:txBody>
          <a:bodyPr wrap="square" lIns="0" tIns="0" rIns="0" bIns="0" rtlCol="0" anchor="t"/>
          <a:lstStyle/>
          <a:p>
            <a:pPr indent="0" marL="0">
              <a:buNone/>
            </a:pPr>
            <a:r>
              <a:rPr lang="en-US" sz="1200" dirty="0">
                <a:solidFill>
                  <a:schemeClr val="accent5"/>
                </a:solidFill>
              </a:rPr>
              <a:t>Left: my clip. Right: the robot replaying it, seen from the same calibrated camera.</a:t>
            </a:r>
            <a:endParaRPr lang="en-US" sz="1200" dirty="0"/>
          </a:p>
        </p:txBody>
      </p:sp>
      <p:sp>
        <p:nvSpPr>
          <p:cNvPr id="6" name="Text 3"/>
          <p:cNvSpPr txBox="1"/>
          <p:nvPr/>
        </p:nvSpPr>
        <p:spPr>
          <a:xfrm>
            <a:off x="548640" y="6035040"/>
            <a:ext cx="6400800" cy="365760"/>
          </a:xfrm>
          <a:prstGeom prst="rect">
            <a:avLst/>
          </a:prstGeom>
          <a:noFill/>
          <a:ln/>
        </p:spPr>
        <p:txBody>
          <a:bodyPr wrap="square" lIns="0" tIns="0" rIns="0" bIns="0" rtlCol="0" anchor="t"/>
          <a:lstStyle/>
          <a:p>
            <a:pPr indent="0" marL="0">
              <a:buNone/>
            </a:pPr>
            <a:r>
              <a:rPr lang="en-US" sz="1300" dirty="0">
                <a:solidFill>
                  <a:schemeClr val="accent5"/>
                </a:solidFill>
              </a:rPr>
              <a:t>Mohamed Sobhy  ·  Humanoid robot learning challenge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it does, in numbers</a:t>
            </a:r>
            <a:endParaRPr lang="en-US" sz="3200" dirty="0"/>
          </a:p>
        </p:txBody>
      </p:sp>
      <p:sp>
        <p:nvSpPr>
          <p:cNvPr id="3" name="Text 1"/>
          <p:cNvSpPr txBox="1"/>
          <p:nvPr/>
        </p:nvSpPr>
        <p:spPr>
          <a:xfrm>
            <a:off x="548640" y="1463040"/>
            <a:ext cx="256032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96%</a:t>
            </a:r>
            <a:endParaRPr lang="en-US" sz="6000" dirty="0"/>
          </a:p>
        </p:txBody>
      </p:sp>
      <p:sp>
        <p:nvSpPr>
          <p:cNvPr id="4" name="Text 2"/>
          <p:cNvSpPr txBox="1"/>
          <p:nvPr/>
        </p:nvSpPr>
        <p:spPr>
          <a:xfrm>
            <a:off x="548640" y="2423160"/>
            <a:ext cx="2560320" cy="685800"/>
          </a:xfrm>
          <a:prstGeom prst="rect">
            <a:avLst/>
          </a:prstGeom>
          <a:noFill/>
          <a:ln/>
        </p:spPr>
        <p:txBody>
          <a:bodyPr wrap="square" lIns="0" tIns="0" rIns="0" bIns="0" rtlCol="0" anchor="t"/>
          <a:lstStyle/>
          <a:p>
            <a:pPr indent="0" marL="0">
              <a:buNone/>
            </a:pPr>
            <a:r>
              <a:rPr lang="en-US" sz="1400" dirty="0">
                <a:solidFill>
                  <a:schemeClr val="tx2"/>
                </a:solidFill>
              </a:rPr>
              <a:t>success on new random layouts (150 episodes)</a:t>
            </a:r>
            <a:endParaRPr lang="en-US" sz="1400" dirty="0"/>
          </a:p>
        </p:txBody>
      </p:sp>
      <p:sp>
        <p:nvSpPr>
          <p:cNvPr id="5" name="Text 3"/>
          <p:cNvSpPr txBox="1"/>
          <p:nvPr/>
        </p:nvSpPr>
        <p:spPr>
          <a:xfrm>
            <a:off x="3291840" y="1463040"/>
            <a:ext cx="256032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86%</a:t>
            </a:r>
            <a:endParaRPr lang="en-US" sz="6000" dirty="0"/>
          </a:p>
        </p:txBody>
      </p:sp>
      <p:sp>
        <p:nvSpPr>
          <p:cNvPr id="6" name="Text 4"/>
          <p:cNvSpPr txBox="1"/>
          <p:nvPr/>
        </p:nvSpPr>
        <p:spPr>
          <a:xfrm>
            <a:off x="3291840" y="2423160"/>
            <a:ext cx="2560320" cy="685800"/>
          </a:xfrm>
          <a:prstGeom prst="rect">
            <a:avLst/>
          </a:prstGeom>
          <a:noFill/>
          <a:ln/>
        </p:spPr>
        <p:txBody>
          <a:bodyPr wrap="square" lIns="0" tIns="0" rIns="0" bIns="0" rtlCol="0" anchor="t"/>
          <a:lstStyle/>
          <a:p>
            <a:pPr indent="0" marL="0">
              <a:buNone/>
            </a:pPr>
            <a:r>
              <a:rPr lang="en-US" sz="1400" dirty="0">
                <a:solidFill>
                  <a:schemeClr val="tx2"/>
                </a:solidFill>
              </a:rPr>
              <a:t>on layouts measured from my 6 held-out clips</a:t>
            </a:r>
            <a:endParaRPr lang="en-US" sz="1400" dirty="0"/>
          </a:p>
        </p:txBody>
      </p:sp>
      <p:sp>
        <p:nvSpPr>
          <p:cNvPr id="7" name="Text 5"/>
          <p:cNvSpPr txBox="1"/>
          <p:nvPr/>
        </p:nvSpPr>
        <p:spPr>
          <a:xfrm>
            <a:off x="6035040" y="1463040"/>
            <a:ext cx="256032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0%</a:t>
            </a:r>
            <a:endParaRPr lang="en-US" sz="6000" dirty="0"/>
          </a:p>
        </p:txBody>
      </p:sp>
      <p:sp>
        <p:nvSpPr>
          <p:cNvPr id="8" name="Text 6"/>
          <p:cNvSpPr txBox="1"/>
          <p:nvPr/>
        </p:nvSpPr>
        <p:spPr>
          <a:xfrm>
            <a:off x="6035040" y="2423160"/>
            <a:ext cx="2560320" cy="685800"/>
          </a:xfrm>
          <a:prstGeom prst="rect">
            <a:avLst/>
          </a:prstGeom>
          <a:noFill/>
          <a:ln/>
        </p:spPr>
        <p:txBody>
          <a:bodyPr wrap="square" lIns="0" tIns="0" rIns="0" bIns="0" rtlCol="0" anchor="t"/>
          <a:lstStyle/>
          <a:p>
            <a:pPr indent="0" marL="0">
              <a:buNone/>
            </a:pPr>
            <a:r>
              <a:rPr lang="en-US" sz="1400" dirty="0">
                <a:solidFill>
                  <a:schemeClr val="tx2"/>
                </a:solidFill>
              </a:rPr>
              <a:t>observed wrong-fruit placement in my policy's three evaluations</a:t>
            </a:r>
            <a:endParaRPr lang="en-US" sz="1400" dirty="0"/>
          </a:p>
        </p:txBody>
      </p:sp>
      <p:sp>
        <p:nvSpPr>
          <p:cNvPr id="9" name="Text 7"/>
          <p:cNvSpPr txBox="1"/>
          <p:nvPr/>
        </p:nvSpPr>
        <p:spPr>
          <a:xfrm>
            <a:off x="8778240" y="1463040"/>
            <a:ext cx="283464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29/30</a:t>
            </a:r>
            <a:endParaRPr lang="en-US" sz="6000" dirty="0"/>
          </a:p>
        </p:txBody>
      </p:sp>
      <p:sp>
        <p:nvSpPr>
          <p:cNvPr id="10" name="Text 8"/>
          <p:cNvSpPr txBox="1"/>
          <p:nvPr/>
        </p:nvSpPr>
        <p:spPr>
          <a:xfrm>
            <a:off x="8778240" y="2423160"/>
            <a:ext cx="2834640" cy="685800"/>
          </a:xfrm>
          <a:prstGeom prst="rect">
            <a:avLst/>
          </a:prstGeom>
          <a:noFill/>
          <a:ln/>
        </p:spPr>
        <p:txBody>
          <a:bodyPr wrap="square" lIns="0" tIns="0" rIns="0" bIns="0" rtlCol="0" anchor="t"/>
          <a:lstStyle/>
          <a:p>
            <a:pPr indent="0" marL="0">
              <a:buNone/>
            </a:pPr>
            <a:r>
              <a:rPr lang="en-US" sz="1400" dirty="0">
                <a:solidFill>
                  <a:schemeClr val="tx2"/>
                </a:solidFill>
              </a:rPr>
              <a:t>earlier recorded-style Panda replay trials (240 steps)</a:t>
            </a:r>
            <a:endParaRPr lang="en-US" sz="1400" dirty="0"/>
          </a:p>
        </p:txBody>
      </p:sp>
      <p:sp>
        <p:nvSpPr>
          <p:cNvPr id="11" name="summary card"/>
          <p:cNvSpPr/>
          <p:nvPr/>
        </p:nvSpPr>
        <p:spPr>
          <a:xfrm>
            <a:off x="548640" y="3931920"/>
            <a:ext cx="11064240" cy="2011680"/>
          </a:xfrm>
          <a:prstGeom prst="roundRect">
            <a:avLst>
              <a:gd name="adj" fmla="val 3636"/>
            </a:avLst>
          </a:prstGeom>
          <a:solidFill>
            <a:schemeClr val="bg2"/>
          </a:solidFill>
          <a:ln w="12700">
            <a:solidFill>
              <a:schemeClr val="bg2"/>
            </a:solidFill>
            <a:prstDash val="solid"/>
          </a:ln>
        </p:spPr>
      </p:sp>
      <p:sp>
        <p:nvSpPr>
          <p:cNvPr id="12" name="Text 10"/>
          <p:cNvSpPr txBox="1"/>
          <p:nvPr/>
        </p:nvSpPr>
        <p:spPr>
          <a:xfrm>
            <a:off x="822960" y="4206240"/>
            <a:ext cx="10515600" cy="1554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Policy: a ResNet-18 on two cameras whose features are conditioned on the target fruit (FiLM), predicting 10-step action chunks</a:t>
            </a:r>
            <a:endParaRPr lang="en-US" sz="1600" dirty="0"/>
          </a:p>
          <a:p>
            <a:pPr marL="342900" indent="-342900">
              <a:spcAft>
                <a:spcPts val="800"/>
              </a:spcAft>
              <a:buSzPct val="100000"/>
              <a:buChar char="•"/>
            </a:pPr>
            <a:r>
              <a:rPr lang="en-US" sz="1600" dirty="0">
                <a:solidFill>
                  <a:schemeClr val="tx1"/>
                </a:solidFill>
              </a:rPr>
              <a:t>Data: 771 simulated demonstrations generated from 24 of my clips; 6 clips held out for testing</a:t>
            </a:r>
            <a:endParaRPr lang="en-US" sz="1600" dirty="0"/>
          </a:p>
          <a:p>
            <a:pPr marL="342900" indent="-342900">
              <a:spcAft>
                <a:spcPts val="800"/>
              </a:spcAft>
              <a:buSzPct val="100000"/>
              <a:buChar char="•"/>
            </a:pPr>
            <a:r>
              <a:rPr lang="en-US" sz="1600" dirty="0">
                <a:solidFill>
                  <a:schemeClr val="tx1"/>
                </a:solidFill>
              </a:rPr>
              <a:t>Separate EgoDex-development baselines: SmolVLA 22%, Diffusion Policy 19%, ACT 13%</a:t>
            </a:r>
            <a:endParaRPr lang="en-US" sz="16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188720"/>
          </a:xfrm>
          <a:prstGeom prst="rect">
            <a:avLst/>
          </a:prstGeom>
          <a:noFill/>
          <a:ln/>
        </p:spPr>
        <p:txBody>
          <a:bodyPr wrap="square" lIns="0" tIns="0" rIns="0" bIns="0" rtlCol="0"/>
          <a:lstStyle/>
          <a:p>
            <a:pPr algn="l" indent="0" marL="0">
              <a:buNone/>
            </a:pPr>
            <a:r>
              <a:rPr lang="en-US" sz="4000" b="1" dirty="0">
                <a:solidFill>
                  <a:schemeClr val="tx1"/>
                </a:solidFill>
              </a:rPr>
              <a:t>How it works</a:t>
            </a:r>
            <a:endParaRPr lang="en-US" sz="4000" dirty="0"/>
          </a:p>
        </p:txBody>
      </p:sp>
      <p:sp>
        <p:nvSpPr>
          <p:cNvPr id="3" name="Text 0"/>
          <p:cNvSpPr/>
          <p:nvPr>
            <p:ph idx="101" type="body" hasCustomPrompt="1"/>
          </p:nvPr>
        </p:nvSpPr>
        <p:spPr>
          <a:xfrm>
            <a:off x="548640" y="3611880"/>
            <a:ext cx="11064240" cy="914400"/>
          </a:xfrm>
          <a:prstGeom prst="rect">
            <a:avLst/>
          </a:prstGeom>
          <a:noFill/>
          <a:ln/>
        </p:spPr>
        <p:txBody>
          <a:bodyPr wrap="square" lIns="0" tIns="0" rIns="0" bIns="0" rtlCol="0"/>
          <a:lstStyle/>
          <a:p>
            <a:pPr algn="l" indent="0" marL="0">
              <a:buNone/>
            </a:pPr>
            <a:r>
              <a:rPr lang="en-US" sz="1800" dirty="0">
                <a:solidFill>
                  <a:schemeClr val="tx2"/>
                </a:solidFill>
              </a:rPr>
              <a:t>From a phone clip to robot demonstrations</a:t>
            </a:r>
            <a:endParaRPr lang="en-US" sz="18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Recording: one phone, one printed board, three fruits</a:t>
            </a:r>
            <a:endParaRPr lang="en-US" sz="3200" dirty="0"/>
          </a:p>
        </p:txBody>
      </p:sp>
      <p:pic>
        <p:nvPicPr>
          <p:cNvPr id="3" name="layout_5791.jpg" descr="/home/mohamed/tries/2026-10-08-humanoid-internship-uk-plans/docs/presentation/assets/layout_5791.jpg">    </p:cNvPr>
          <p:cNvPicPr>
            <a:picLocks noChangeAspect="1"/>
          </p:cNvPicPr>
          <p:nvPr/>
        </p:nvPicPr>
        <p:blipFill>
          <a:blip r:embed="rId1"/>
          <a:stretch>
            <a:fillRect/>
          </a:stretch>
        </p:blipFill>
        <p:spPr>
          <a:xfrm>
            <a:off x="548640" y="1310640"/>
            <a:ext cx="2743200" cy="4876800"/>
          </a:xfrm>
          <a:prstGeom prst="rect">
            <a:avLst/>
          </a:prstGeom>
        </p:spPr>
      </p:pic>
      <p:sp>
        <p:nvSpPr>
          <p:cNvPr id="4" name="Text 1"/>
          <p:cNvSpPr txBox="1"/>
          <p:nvPr/>
        </p:nvSpPr>
        <p:spPr>
          <a:xfrm>
            <a:off x="548640" y="6263640"/>
            <a:ext cx="3291840" cy="365760"/>
          </a:xfrm>
          <a:prstGeom prst="rect">
            <a:avLst/>
          </a:prstGeom>
          <a:noFill/>
          <a:ln/>
        </p:spPr>
        <p:txBody>
          <a:bodyPr wrap="square" lIns="0" tIns="0" rIns="0" bIns="0" rtlCol="0" anchor="t"/>
          <a:lstStyle/>
          <a:p>
            <a:pPr indent="0" marL="0">
              <a:buNone/>
            </a:pPr>
            <a:r>
              <a:rPr lang="en-US" sz="1000" dirty="0">
                <a:solidFill>
                  <a:schemeClr val="accent5"/>
                </a:solidFill>
              </a:rPr>
              <a:t>A frame from my clip 5791, with the detected bowl and fruit; the pear is the target.</a:t>
            </a:r>
            <a:endParaRPr lang="en-US" sz="1000" dirty="0"/>
          </a:p>
        </p:txBody>
      </p:sp>
      <p:pic>
        <p:nvPicPr>
          <p:cNvPr id="5" name="fig1_bench_crop.png" descr="/home/mohamed/tries/2026-10-08-humanoid-internship-uk-plans/docs/presentation/assets/fig1_bench_crop.png">    </p:cNvPr>
          <p:cNvPicPr>
            <a:picLocks noChangeAspect="1"/>
          </p:cNvPicPr>
          <p:nvPr/>
        </p:nvPicPr>
        <p:blipFill>
          <a:blip r:embed="rId2"/>
          <a:stretch>
            <a:fillRect/>
          </a:stretch>
        </p:blipFill>
        <p:spPr>
          <a:xfrm>
            <a:off x="3566160" y="1573112"/>
            <a:ext cx="4206240" cy="4351857"/>
          </a:xfrm>
          <a:prstGeom prst="rect">
            <a:avLst/>
          </a:prstGeom>
        </p:spPr>
      </p:pic>
      <p:sp>
        <p:nvSpPr>
          <p:cNvPr id="6" name="Text 2"/>
          <p:cNvSpPr txBox="1"/>
          <p:nvPr/>
        </p:nvSpPr>
        <p:spPr>
          <a:xfrm>
            <a:off x="8046720" y="1371600"/>
            <a:ext cx="3566160"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iPhone 13 Pro Max on a stand 75 cm above the table, tilted 24° towards the work area, portrait 1080p</a:t>
            </a:r>
            <a:endParaRPr lang="en-US" sz="1500" dirty="0"/>
          </a:p>
          <a:p>
            <a:pPr marL="342900" indent="-342900">
              <a:spcAft>
                <a:spcPts val="800"/>
              </a:spcAft>
              <a:buSzPct val="100000"/>
              <a:buChar char="•"/>
            </a:pPr>
            <a:r>
              <a:rPr lang="en-US" sz="1500" dirty="0">
                <a:solidFill>
                  <a:schemeClr val="tx1"/>
                </a:solidFill>
              </a:rPr>
              <a:t>A ChArUco board printed on A4 defines the table frame; my printer shrank it to 90.6%, which I measured and corrected</a:t>
            </a:r>
            <a:endParaRPr lang="en-US" sz="1500" dirty="0"/>
          </a:p>
          <a:p>
            <a:pPr marL="342900" indent="-342900">
              <a:spcAft>
                <a:spcPts val="800"/>
              </a:spcAft>
              <a:buSzPct val="100000"/>
              <a:buChar char="•"/>
            </a:pPr>
            <a:r>
              <a:rPr lang="en-US" sz="1500" dirty="0">
                <a:solidFill>
                  <a:schemeClr val="tx1"/>
                </a:solidFill>
              </a:rPr>
              <a:t>Persimmon, nashi pear, mandarin and a bowl; the layout changes every clip</a:t>
            </a:r>
            <a:endParaRPr lang="en-US" sz="1500" dirty="0"/>
          </a:p>
          <a:p>
            <a:pPr marL="342900" indent="-342900">
              <a:spcAft>
                <a:spcPts val="800"/>
              </a:spcAft>
              <a:buSzPct val="100000"/>
              <a:buChar char="•"/>
            </a:pPr>
            <a:r>
              <a:rPr lang="en-US" sz="1500" dirty="0">
                <a:solidFill>
                  <a:schemeClr val="tx1"/>
                </a:solidFill>
              </a:rPr>
              <a:t>30 clips, 10 per fruit, one fruit into the bowl each; 6 clips held out for testing</a:t>
            </a:r>
            <a:endParaRPr lang="en-US" sz="15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a phone clip to robot demonstrations</a:t>
            </a:r>
            <a:endParaRPr lang="en-US" sz="3200" dirty="0"/>
          </a:p>
        </p:txBody>
      </p:sp>
      <p:sp>
        <p:nvSpPr>
          <p:cNvPr id="3" name="step 1"/>
          <p:cNvSpPr/>
          <p:nvPr/>
        </p:nvSpPr>
        <p:spPr>
          <a:xfrm>
            <a:off x="548640" y="1371600"/>
            <a:ext cx="2560320" cy="2286000"/>
          </a:xfrm>
          <a:prstGeom prst="roundRect">
            <a:avLst>
              <a:gd name="adj" fmla="val 3200"/>
            </a:avLst>
          </a:prstGeom>
          <a:solidFill>
            <a:schemeClr val="bg2"/>
          </a:solidFill>
          <a:ln w="12700">
            <a:solidFill>
              <a:schemeClr val="bg2"/>
            </a:solidFill>
            <a:prstDash val="solid"/>
          </a:ln>
        </p:spPr>
      </p:sp>
      <p:sp>
        <p:nvSpPr>
          <p:cNvPr id="4" name="step 1 number"/>
          <p:cNvSpPr/>
          <p:nvPr/>
        </p:nvSpPr>
        <p:spPr>
          <a:xfrm>
            <a:off x="777240" y="16002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6002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Calibrate</a:t>
            </a:r>
            <a:endParaRPr lang="en-US" sz="1600" dirty="0"/>
          </a:p>
        </p:txBody>
      </p:sp>
      <p:sp>
        <p:nvSpPr>
          <p:cNvPr id="7" name="Text 5"/>
          <p:cNvSpPr txBox="1"/>
          <p:nvPr/>
        </p:nvSpPr>
        <p:spPr>
          <a:xfrm>
            <a:off x="777240" y="2194560"/>
            <a:ext cx="2148840" cy="868680"/>
          </a:xfrm>
          <a:prstGeom prst="rect">
            <a:avLst/>
          </a:prstGeom>
          <a:noFill/>
          <a:ln/>
        </p:spPr>
        <p:txBody>
          <a:bodyPr wrap="square" lIns="0" tIns="0" rIns="0" bIns="0" rtlCol="0" anchor="t"/>
          <a:lstStyle/>
          <a:p>
            <a:pPr indent="0" marL="0">
              <a:buNone/>
            </a:pPr>
            <a:r>
              <a:rPr lang="en-US" sz="1300" dirty="0">
                <a:solidFill>
                  <a:schemeClr val="tx2"/>
                </a:solidFill>
              </a:rPr>
              <a:t>Board in every clip; one focal length for the session</a:t>
            </a:r>
            <a:endParaRPr lang="en-US" sz="1300" dirty="0"/>
          </a:p>
        </p:txBody>
      </p:sp>
      <p:sp>
        <p:nvSpPr>
          <p:cNvPr id="8" name="Text 6"/>
          <p:cNvSpPr txBox="1"/>
          <p:nvPr/>
        </p:nvSpPr>
        <p:spPr>
          <a:xfrm>
            <a:off x="777240" y="30632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0.46 px error, camera stable to 1 mm</a:t>
            </a:r>
            <a:endParaRPr lang="en-US" sz="1300" dirty="0"/>
          </a:p>
        </p:txBody>
      </p:sp>
      <p:sp>
        <p:nvSpPr>
          <p:cNvPr id="9" name="step 2"/>
          <p:cNvSpPr/>
          <p:nvPr/>
        </p:nvSpPr>
        <p:spPr>
          <a:xfrm>
            <a:off x="3291840" y="1371600"/>
            <a:ext cx="2560320" cy="2286000"/>
          </a:xfrm>
          <a:prstGeom prst="roundRect">
            <a:avLst>
              <a:gd name="adj" fmla="val 3200"/>
            </a:avLst>
          </a:prstGeom>
          <a:solidFill>
            <a:schemeClr val="bg2"/>
          </a:solidFill>
          <a:ln w="12700">
            <a:solidFill>
              <a:schemeClr val="bg2"/>
            </a:solidFill>
            <a:prstDash val="solid"/>
          </a:ln>
        </p:spPr>
      </p:sp>
      <p:sp>
        <p:nvSpPr>
          <p:cNvPr id="10" name="step 2 number"/>
          <p:cNvSpPr/>
          <p:nvPr/>
        </p:nvSpPr>
        <p:spPr>
          <a:xfrm>
            <a:off x="3520440" y="160020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35204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114800" y="16002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Name the fruit</a:t>
            </a:r>
            <a:endParaRPr lang="en-US" sz="1600" dirty="0"/>
          </a:p>
        </p:txBody>
      </p:sp>
      <p:sp>
        <p:nvSpPr>
          <p:cNvPr id="13" name="Text 11"/>
          <p:cNvSpPr txBox="1"/>
          <p:nvPr/>
        </p:nvSpPr>
        <p:spPr>
          <a:xfrm>
            <a:off x="3520440" y="2194560"/>
            <a:ext cx="2148840" cy="868680"/>
          </a:xfrm>
          <a:prstGeom prst="rect">
            <a:avLst/>
          </a:prstGeom>
          <a:noFill/>
          <a:ln/>
        </p:spPr>
        <p:txBody>
          <a:bodyPr wrap="square" lIns="0" tIns="0" rIns="0" bIns="0" rtlCol="0" anchor="t"/>
          <a:lstStyle/>
          <a:p>
            <a:pPr indent="0" marL="0">
              <a:buNone/>
            </a:pPr>
            <a:r>
              <a:rPr lang="en-US" sz="1300" dirty="0">
                <a:solidFill>
                  <a:schemeClr val="tx2"/>
                </a:solidFill>
              </a:rPr>
              <a:t>OWLv2 boxes, named by appearance learned from my own clips</a:t>
            </a:r>
            <a:endParaRPr lang="en-US" sz="1300" dirty="0"/>
          </a:p>
        </p:txBody>
      </p:sp>
      <p:sp>
        <p:nvSpPr>
          <p:cNvPr id="14" name="Text 12"/>
          <p:cNvSpPr txBox="1"/>
          <p:nvPr/>
        </p:nvSpPr>
        <p:spPr>
          <a:xfrm>
            <a:off x="3520440" y="30632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30 of 30 clips correct</a:t>
            </a:r>
            <a:endParaRPr lang="en-US" sz="1300" dirty="0"/>
          </a:p>
        </p:txBody>
      </p:sp>
      <p:sp>
        <p:nvSpPr>
          <p:cNvPr id="15" name="step 3"/>
          <p:cNvSpPr/>
          <p:nvPr/>
        </p:nvSpPr>
        <p:spPr>
          <a:xfrm>
            <a:off x="6035040" y="1371600"/>
            <a:ext cx="2560320" cy="2286000"/>
          </a:xfrm>
          <a:prstGeom prst="roundRect">
            <a:avLst>
              <a:gd name="adj" fmla="val 3200"/>
            </a:avLst>
          </a:prstGeom>
          <a:solidFill>
            <a:schemeClr val="bg2"/>
          </a:solidFill>
          <a:ln w="12700">
            <a:solidFill>
              <a:schemeClr val="bg2"/>
            </a:solidFill>
            <a:prstDash val="solid"/>
          </a:ln>
        </p:spPr>
      </p:sp>
      <p:sp>
        <p:nvSpPr>
          <p:cNvPr id="16" name="step 3 number"/>
          <p:cNvSpPr/>
          <p:nvPr/>
        </p:nvSpPr>
        <p:spPr>
          <a:xfrm>
            <a:off x="6263640" y="160020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62636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858000" y="16002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Track the hand</a:t>
            </a:r>
            <a:endParaRPr lang="en-US" sz="1600" dirty="0"/>
          </a:p>
        </p:txBody>
      </p:sp>
      <p:sp>
        <p:nvSpPr>
          <p:cNvPr id="19" name="Text 17"/>
          <p:cNvSpPr txBox="1"/>
          <p:nvPr/>
        </p:nvSpPr>
        <p:spPr>
          <a:xfrm>
            <a:off x="6263640" y="2194560"/>
            <a:ext cx="2148840" cy="868680"/>
          </a:xfrm>
          <a:prstGeom prst="rect">
            <a:avLst/>
          </a:prstGeom>
          <a:noFill/>
          <a:ln/>
        </p:spPr>
        <p:txBody>
          <a:bodyPr wrap="square" lIns="0" tIns="0" rIns="0" bIns="0" rtlCol="0" anchor="t"/>
          <a:lstStyle/>
          <a:p>
            <a:pPr indent="0" marL="0">
              <a:buNone/>
            </a:pPr>
            <a:r>
              <a:rPr lang="en-US" sz="1300" dirty="0">
                <a:solidFill>
                  <a:schemeClr val="tx2"/>
                </a:solidFill>
              </a:rPr>
              <a:t>WiLoR 3D hand joints placed with the calibrated camera</a:t>
            </a:r>
            <a:endParaRPr lang="en-US" sz="1300" dirty="0"/>
          </a:p>
        </p:txBody>
      </p:sp>
      <p:sp>
        <p:nvSpPr>
          <p:cNvPr id="20" name="Text 18"/>
          <p:cNvSpPr txBox="1"/>
          <p:nvPr/>
        </p:nvSpPr>
        <p:spPr>
          <a:xfrm>
            <a:off x="6263640" y="30632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hand found in 83–100% of each action</a:t>
            </a:r>
            <a:endParaRPr lang="en-US" sz="1300" dirty="0"/>
          </a:p>
        </p:txBody>
      </p:sp>
      <p:sp>
        <p:nvSpPr>
          <p:cNvPr id="21" name="step 4"/>
          <p:cNvSpPr/>
          <p:nvPr/>
        </p:nvSpPr>
        <p:spPr>
          <a:xfrm>
            <a:off x="548640" y="3886200"/>
            <a:ext cx="2560320" cy="2286000"/>
          </a:xfrm>
          <a:prstGeom prst="roundRect">
            <a:avLst>
              <a:gd name="adj" fmla="val 3200"/>
            </a:avLst>
          </a:prstGeom>
          <a:solidFill>
            <a:schemeClr val="bg2"/>
          </a:solidFill>
          <a:ln w="12700">
            <a:solidFill>
              <a:schemeClr val="bg2"/>
            </a:solidFill>
            <a:prstDash val="solid"/>
          </a:ln>
        </p:spPr>
      </p:sp>
      <p:sp>
        <p:nvSpPr>
          <p:cNvPr id="22" name="step 4 number"/>
          <p:cNvSpPr/>
          <p:nvPr/>
        </p:nvSpPr>
        <p:spPr>
          <a:xfrm>
            <a:off x="777240" y="4114800"/>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7724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1371600" y="41148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Grasp and release</a:t>
            </a:r>
            <a:endParaRPr lang="en-US" sz="1600" dirty="0"/>
          </a:p>
        </p:txBody>
      </p:sp>
      <p:sp>
        <p:nvSpPr>
          <p:cNvPr id="25" name="Text 23"/>
          <p:cNvSpPr txBox="1"/>
          <p:nvPr/>
        </p:nvSpPr>
        <p:spPr>
          <a:xfrm>
            <a:off x="777240" y="4709160"/>
            <a:ext cx="2148840" cy="868680"/>
          </a:xfrm>
          <a:prstGeom prst="rect">
            <a:avLst/>
          </a:prstGeom>
          <a:noFill/>
          <a:ln/>
        </p:spPr>
        <p:txBody>
          <a:bodyPr wrap="square" lIns="0" tIns="0" rIns="0" bIns="0" rtlCol="0" anchor="t"/>
          <a:lstStyle/>
          <a:p>
            <a:pPr indent="0" marL="0">
              <a:buNone/>
            </a:pPr>
            <a:r>
              <a:rPr lang="en-US" sz="1300" dirty="0">
                <a:solidFill>
                  <a:schemeClr val="tx2"/>
                </a:solidFill>
              </a:rPr>
              <a:t>Pinch closest to the target fruit, then to the bowl</a:t>
            </a:r>
            <a:endParaRPr lang="en-US" sz="1300" dirty="0"/>
          </a:p>
        </p:txBody>
      </p:sp>
      <p:sp>
        <p:nvSpPr>
          <p:cNvPr id="26" name="Text 24"/>
          <p:cNvSpPr txBox="1"/>
          <p:nvPr/>
        </p:nvSpPr>
        <p:spPr>
          <a:xfrm>
            <a:off x="777240" y="55778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grasp ~2 cm from the fruit</a:t>
            </a:r>
            <a:endParaRPr lang="en-US" sz="1300" dirty="0"/>
          </a:p>
        </p:txBody>
      </p:sp>
      <p:sp>
        <p:nvSpPr>
          <p:cNvPr id="27" name="step 5"/>
          <p:cNvSpPr/>
          <p:nvPr/>
        </p:nvSpPr>
        <p:spPr>
          <a:xfrm>
            <a:off x="3291840" y="3886200"/>
            <a:ext cx="2560320" cy="2286000"/>
          </a:xfrm>
          <a:prstGeom prst="roundRect">
            <a:avLst>
              <a:gd name="adj" fmla="val 3200"/>
            </a:avLst>
          </a:prstGeom>
          <a:solidFill>
            <a:schemeClr val="bg2"/>
          </a:solidFill>
          <a:ln w="12700">
            <a:solidFill>
              <a:schemeClr val="bg2"/>
            </a:solidFill>
            <a:prstDash val="solid"/>
          </a:ln>
        </p:spPr>
      </p:sp>
      <p:sp>
        <p:nvSpPr>
          <p:cNvPr id="28" name="step 5 number"/>
          <p:cNvSpPr/>
          <p:nvPr/>
        </p:nvSpPr>
        <p:spPr>
          <a:xfrm>
            <a:off x="3520440" y="4114800"/>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352044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4114800" y="41148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Keep the decisions</a:t>
            </a:r>
            <a:endParaRPr lang="en-US" sz="1600" dirty="0"/>
          </a:p>
        </p:txBody>
      </p:sp>
      <p:sp>
        <p:nvSpPr>
          <p:cNvPr id="31" name="Text 29"/>
          <p:cNvSpPr txBox="1"/>
          <p:nvPr/>
        </p:nvSpPr>
        <p:spPr>
          <a:xfrm>
            <a:off x="3520440" y="4709160"/>
            <a:ext cx="2148840" cy="868680"/>
          </a:xfrm>
          <a:prstGeom prst="rect">
            <a:avLst/>
          </a:prstGeom>
          <a:noFill/>
          <a:ln/>
        </p:spPr>
        <p:txBody>
          <a:bodyPr wrap="square" lIns="0" tIns="0" rIns="0" bIns="0" rtlCol="0" anchor="t"/>
          <a:lstStyle/>
          <a:p>
            <a:pPr indent="0" marL="0">
              <a:buNone/>
            </a:pPr>
            <a:r>
              <a:rPr lang="en-US" sz="1300" dirty="0">
                <a:solidFill>
                  <a:schemeClr val="tx2"/>
                </a:solidFill>
              </a:rPr>
              <a:t>Approach, grasp yaw, lift, carry, release, retreat as keyframes</a:t>
            </a:r>
            <a:endParaRPr lang="en-US" sz="1300" dirty="0"/>
          </a:p>
        </p:txBody>
      </p:sp>
      <p:sp>
        <p:nvSpPr>
          <p:cNvPr id="32" name="Text 30"/>
          <p:cNvSpPr txBox="1"/>
          <p:nvPr/>
        </p:nvSpPr>
        <p:spPr>
          <a:xfrm>
            <a:off x="3520440" y="55778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the robot keeps its own timing</a:t>
            </a:r>
            <a:endParaRPr lang="en-US" sz="1300" dirty="0"/>
          </a:p>
        </p:txBody>
      </p:sp>
      <p:sp>
        <p:nvSpPr>
          <p:cNvPr id="33" name="step 6"/>
          <p:cNvSpPr/>
          <p:nvPr/>
        </p:nvSpPr>
        <p:spPr>
          <a:xfrm>
            <a:off x="6035040" y="3886200"/>
            <a:ext cx="2560320" cy="2286000"/>
          </a:xfrm>
          <a:prstGeom prst="roundRect">
            <a:avLst>
              <a:gd name="adj" fmla="val 3200"/>
            </a:avLst>
          </a:prstGeom>
          <a:solidFill>
            <a:schemeClr val="bg2"/>
          </a:solidFill>
          <a:ln w="12700">
            <a:solidFill>
              <a:schemeClr val="bg2"/>
            </a:solidFill>
            <a:prstDash val="solid"/>
          </a:ln>
        </p:spPr>
      </p:sp>
      <p:sp>
        <p:nvSpPr>
          <p:cNvPr id="34" name="step 6 number"/>
          <p:cNvSpPr/>
          <p:nvPr/>
        </p:nvSpPr>
        <p:spPr>
          <a:xfrm>
            <a:off x="6263640" y="4114800"/>
            <a:ext cx="457200" cy="457200"/>
          </a:xfrm>
          <a:prstGeom prst="ellipse">
            <a:avLst/>
          </a:prstGeom>
          <a:solidFill>
            <a:schemeClr val="accent1"/>
          </a:solidFill>
          <a:ln w="12700">
            <a:solidFill>
              <a:schemeClr val="accent1"/>
            </a:solidFill>
            <a:prstDash val="solid"/>
          </a:ln>
        </p:spPr>
      </p:sp>
      <p:sp>
        <p:nvSpPr>
          <p:cNvPr id="35" name="Text 33"/>
          <p:cNvSpPr txBox="1"/>
          <p:nvPr/>
        </p:nvSpPr>
        <p:spPr>
          <a:xfrm>
            <a:off x="626364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6" name="Text 34"/>
          <p:cNvSpPr txBox="1"/>
          <p:nvPr/>
        </p:nvSpPr>
        <p:spPr>
          <a:xfrm>
            <a:off x="6858000" y="4114800"/>
            <a:ext cx="1600200" cy="457200"/>
          </a:xfrm>
          <a:prstGeom prst="rect">
            <a:avLst/>
          </a:prstGeom>
          <a:noFill/>
          <a:ln/>
        </p:spPr>
        <p:txBody>
          <a:bodyPr wrap="square" lIns="0" tIns="0" rIns="0" bIns="0" rtlCol="0" anchor="ctr"/>
          <a:lstStyle/>
          <a:p>
            <a:pPr indent="0" marL="0">
              <a:buNone/>
            </a:pPr>
            <a:r>
              <a:rPr lang="en-US" sz="1600" b="1" dirty="0">
                <a:solidFill>
                  <a:schemeClr val="tx1"/>
                </a:solidFill>
              </a:rPr>
              <a:t>Multiply</a:t>
            </a:r>
            <a:endParaRPr lang="en-US" sz="1600" dirty="0"/>
          </a:p>
        </p:txBody>
      </p:sp>
      <p:sp>
        <p:nvSpPr>
          <p:cNvPr id="37" name="Text 35"/>
          <p:cNvSpPr txBox="1"/>
          <p:nvPr/>
        </p:nvSpPr>
        <p:spPr>
          <a:xfrm>
            <a:off x="6263640" y="4709160"/>
            <a:ext cx="2148840" cy="868680"/>
          </a:xfrm>
          <a:prstGeom prst="rect">
            <a:avLst/>
          </a:prstGeom>
          <a:noFill/>
          <a:ln/>
        </p:spPr>
        <p:txBody>
          <a:bodyPr wrap="square" lIns="0" tIns="0" rIns="0" bIns="0" rtlCol="0" anchor="t"/>
          <a:lstStyle/>
          <a:p>
            <a:pPr indent="0" marL="0">
              <a:buNone/>
            </a:pPr>
            <a:r>
              <a:rPr lang="en-US" sz="1300" dirty="0">
                <a:solidFill>
                  <a:schemeClr val="tx2"/>
                </a:solidFill>
              </a:rPr>
              <a:t>Each clip's style replayed in new random layouts</a:t>
            </a:r>
            <a:endParaRPr lang="en-US" sz="1300" dirty="0"/>
          </a:p>
        </p:txBody>
      </p:sp>
      <p:sp>
        <p:nvSpPr>
          <p:cNvPr id="38" name="Text 36"/>
          <p:cNvSpPr txBox="1"/>
          <p:nvPr/>
        </p:nvSpPr>
        <p:spPr>
          <a:xfrm>
            <a:off x="6263640" y="5577840"/>
            <a:ext cx="2148840" cy="457200"/>
          </a:xfrm>
          <a:prstGeom prst="rect">
            <a:avLst/>
          </a:prstGeom>
          <a:noFill/>
          <a:ln/>
        </p:spPr>
        <p:txBody>
          <a:bodyPr wrap="square" lIns="0" tIns="0" rIns="0" bIns="0" rtlCol="0" anchor="t"/>
          <a:lstStyle/>
          <a:p>
            <a:pPr indent="0" marL="0">
              <a:buNone/>
            </a:pPr>
            <a:r>
              <a:rPr lang="en-US" sz="1300" b="1" dirty="0">
                <a:solidFill>
                  <a:schemeClr val="accent1"/>
                </a:solidFill>
              </a:rPr>
              <a:t>771 demos from 24 clips</a:t>
            </a:r>
            <a:endParaRPr lang="en-US" sz="1300" dirty="0"/>
          </a:p>
        </p:txBody>
      </p:sp>
      <p:pic>
        <p:nvPicPr>
          <p:cNvPr id="39" name="overlay_5802.jpg" descr="/home/mohamed/tries/2026-10-08-humanoid-internship-uk-plans/docs/presentation/assets/overlay_5802.jpg">    </p:cNvPr>
          <p:cNvPicPr>
            <a:picLocks noChangeAspect="1"/>
          </p:cNvPicPr>
          <p:nvPr/>
        </p:nvPicPr>
        <p:blipFill>
          <a:blip r:embed="rId1"/>
          <a:stretch>
            <a:fillRect/>
          </a:stretch>
        </p:blipFill>
        <p:spPr>
          <a:xfrm>
            <a:off x="9006840" y="1455420"/>
            <a:ext cx="2606040" cy="4632960"/>
          </a:xfrm>
          <a:prstGeom prst="rect">
            <a:avLst/>
          </a:prstGeom>
        </p:spPr>
      </p:pic>
      <p:sp>
        <p:nvSpPr>
          <p:cNvPr id="40" name="Text 37"/>
          <p:cNvSpPr txBox="1"/>
          <p:nvPr/>
        </p:nvSpPr>
        <p:spPr>
          <a:xfrm>
            <a:off x="8778240" y="6217920"/>
            <a:ext cx="3017520" cy="365760"/>
          </a:xfrm>
          <a:prstGeom prst="rect">
            <a:avLst/>
          </a:prstGeom>
          <a:noFill/>
          <a:ln/>
        </p:spPr>
        <p:txBody>
          <a:bodyPr wrap="square" lIns="0" tIns="0" rIns="0" bIns="0" rtlCol="0" anchor="t"/>
          <a:lstStyle/>
          <a:p>
            <a:pPr indent="0" marL="0">
              <a:buNone/>
            </a:pPr>
            <a:r>
              <a:rPr lang="en-US" sz="1000" dirty="0">
                <a:solidFill>
                  <a:schemeClr val="accent5"/>
                </a:solidFill>
              </a:rPr>
              <a:t>Clip 5802: tracked pinch path (yellow), grasp (green), release (blue).</a:t>
            </a:r>
            <a:endParaRPr lang="en-US" sz="10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My clip and the robot's replay, same camera</a:t>
            </a:r>
            <a:endParaRPr lang="en-US" sz="3200" dirty="0"/>
          </a:p>
        </p:txBody>
      </p:sp>
      <p:pic>
        <p:nvPicPr>
          <p:cNvPr id="3" name="video: twin 579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5394960" cy="4745736"/>
          </a:xfrm>
          <a:prstGeom prst="rect">
            <a:avLst/>
          </a:prstGeom>
        </p:spPr>
      </p:pic>
      <p:pic>
        <p:nvPicPr>
          <p:cNvPr id="4" name="twin_grid_rows.jpg" descr="/home/mohamed/tries/2026-10-08-humanoid-internship-uk-plans/docs/presentation/assets/twin_grid_rows.jpg">    </p:cNvPr>
          <p:cNvPicPr>
            <a:picLocks noChangeAspect="1"/>
          </p:cNvPicPr>
          <p:nvPr/>
        </p:nvPicPr>
        <p:blipFill>
          <a:blip r:embed="rId4"/>
          <a:stretch>
            <a:fillRect/>
          </a:stretch>
        </p:blipFill>
        <p:spPr>
          <a:xfrm>
            <a:off x="6309360" y="1280495"/>
            <a:ext cx="5303520" cy="3108290"/>
          </a:xfrm>
          <a:prstGeom prst="rect">
            <a:avLst/>
          </a:prstGeom>
        </p:spPr>
      </p:pic>
      <p:sp>
        <p:nvSpPr>
          <p:cNvPr id="5" name="Text 1"/>
          <p:cNvSpPr txBox="1"/>
          <p:nvPr/>
        </p:nvSpPr>
        <p:spPr>
          <a:xfrm>
            <a:off x="6309360" y="4617720"/>
            <a:ext cx="530352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simulator's camera sits at the phone's calibrated pose, with the same focal length</a:t>
            </a:r>
            <a:endParaRPr lang="en-US" sz="1400" dirty="0"/>
          </a:p>
          <a:p>
            <a:pPr marL="342900" indent="-342900">
              <a:spcAft>
                <a:spcPts val="800"/>
              </a:spcAft>
              <a:buSzPct val="100000"/>
              <a:buChar char="•"/>
            </a:pPr>
            <a:r>
              <a:rPr lang="en-US" sz="1400" dirty="0">
                <a:solidFill>
                  <a:schemeClr val="tx1"/>
                </a:solidFill>
              </a:rPr>
              <a:t>My printed sheet is rendered at its measured size and position: it lines up in both views</a:t>
            </a:r>
            <a:endParaRPr lang="en-US" sz="1400" dirty="0"/>
          </a:p>
          <a:p>
            <a:pPr marL="342900" indent="-342900">
              <a:spcAft>
                <a:spcPts val="800"/>
              </a:spcAft>
              <a:buSzPct val="100000"/>
              <a:buChar char="•"/>
            </a:pPr>
            <a:r>
              <a:rPr lang="en-US" sz="1400" dirty="0">
                <a:solidFill>
                  <a:schemeClr val="tx1"/>
                </a:solidFill>
              </a:rPr>
              <a:t>Earlier replay: 29/30; clips starting with occupied bowls use sampled replacement layouts</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Human decisions, robot timing</a:t>
            </a:r>
            <a:endParaRPr lang="en-US" sz="3200" dirty="0"/>
          </a:p>
        </p:txBody>
      </p:sp>
      <p:graphicFrame>
        <p:nvGraphicFramePr>
          <p:cNvPr id="3" name="chart: learnability" descr=""/>
          <p:cNvGraphicFramePr/>
          <p:nvPr/>
        </p:nvGraphicFramePr>
        <p:xfrm>
          <a:off x="548640" y="1280160"/>
          <a:ext cx="566928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394960"/>
            <a:ext cx="5669280" cy="548640"/>
          </a:xfrm>
          <a:prstGeom prst="rect">
            <a:avLst/>
          </a:prstGeom>
          <a:noFill/>
          <a:ln/>
        </p:spPr>
        <p:txBody>
          <a:bodyPr wrap="square" lIns="0" tIns="0" rIns="0" bIns="0" rtlCol="0" anchor="t"/>
          <a:lstStyle/>
          <a:p>
            <a:pPr indent="0" marL="0">
              <a:buNone/>
            </a:pPr>
            <a:r>
              <a:rPr lang="en-US" sz="1100" dirty="0">
                <a:solidFill>
                  <a:schemeClr val="accent5"/>
                </a:solidFill>
              </a:rPr>
              <a:t>Privileged-state diagnostic on EgoDex-derived data; demo counts/protocols differ. Retained single-run records.</a:t>
            </a:r>
            <a:endParaRPr lang="en-US" sz="1100" dirty="0"/>
          </a:p>
        </p:txBody>
      </p:sp>
      <p:pic>
        <p:nvPicPr>
          <p:cNvPr id="5" name="fig2_drum_crop.png" descr="/home/mohamed/tries/2026-10-08-humanoid-internship-uk-plans/docs/presentation/assets/fig2_drum_crop.png">    </p:cNvPr>
          <p:cNvPicPr>
            <a:picLocks noChangeAspect="1"/>
          </p:cNvPicPr>
          <p:nvPr/>
        </p:nvPicPr>
        <p:blipFill>
          <a:blip r:embed="rId2"/>
          <a:stretch>
            <a:fillRect/>
          </a:stretch>
        </p:blipFill>
        <p:spPr>
          <a:xfrm>
            <a:off x="7640672" y="1188720"/>
            <a:ext cx="2915216" cy="3154680"/>
          </a:xfrm>
          <a:prstGeom prst="rect">
            <a:avLst/>
          </a:prstGeom>
        </p:spPr>
      </p:pic>
      <p:sp>
        <p:nvSpPr>
          <p:cNvPr id="6" name="Text 2"/>
          <p:cNvSpPr txBox="1"/>
          <p:nvPr/>
        </p:nvSpPr>
        <p:spPr>
          <a:xfrm>
            <a:off x="6583680" y="4434840"/>
            <a:ext cx="50292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Raw-path replay works (86–92%), but imitation struggles with human starts, detours and timing</a:t>
            </a:r>
            <a:endParaRPr lang="en-US" sz="1400" dirty="0"/>
          </a:p>
          <a:p>
            <a:pPr marL="342900" indent="-342900">
              <a:spcAft>
                <a:spcPts val="800"/>
              </a:spcAft>
              <a:buSzPct val="100000"/>
              <a:buChar char="•"/>
            </a:pPr>
            <a:r>
              <a:rPr lang="en-US" sz="1400" dirty="0">
                <a:solidFill>
                  <a:schemeClr val="tx1"/>
                </a:solidFill>
              </a:rPr>
              <a:t>Keeping only my decisions as object-relative keyframes makes the data learnable</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Conditioning vision on the target fruit (FiLM)</a:t>
            </a:r>
            <a:endParaRPr lang="en-US" sz="3200" dirty="0"/>
          </a:p>
        </p:txBody>
      </p:sp>
      <p:graphicFrame>
        <p:nvGraphicFramePr>
          <p:cNvPr id="3" name="chart: film ablation" descr=""/>
          <p:cNvGraphicFramePr/>
          <p:nvPr/>
        </p:nvGraphicFramePr>
        <p:xfrm>
          <a:off x="548640" y="1280160"/>
          <a:ext cx="5669280" cy="4206240"/>
        </p:xfrm>
        <a:graphic xmlns:a="http://schemas.openxmlformats.org/drawingml/2006/main">
          <a:graphicData uri="http://schemas.openxmlformats.org/drawingml/2006/chart">
            <c:chart xmlns:c="http://schemas.openxmlformats.org/drawingml/2006/chart" r:id="rId1"/>
          </a:graphicData>
        </a:graphic>
      </p:graphicFrame>
      <p:pic>
        <p:nvPicPr>
          <p:cNvPr id="4" name="fig3_film_crop.png" descr="/home/mohamed/tries/2026-10-08-humanoid-internship-uk-plans/docs/presentation/assets/fig3_film_crop.png">    </p:cNvPr>
          <p:cNvPicPr>
            <a:picLocks noChangeAspect="1"/>
          </p:cNvPicPr>
          <p:nvPr/>
        </p:nvPicPr>
        <p:blipFill>
          <a:blip r:embed="rId2"/>
          <a:stretch>
            <a:fillRect/>
          </a:stretch>
        </p:blipFill>
        <p:spPr>
          <a:xfrm>
            <a:off x="6583680" y="1216868"/>
            <a:ext cx="5029200" cy="3098383"/>
          </a:xfrm>
          <a:prstGeom prst="rect">
            <a:avLst/>
          </a:prstGeom>
        </p:spPr>
      </p:pic>
      <p:sp>
        <p:nvSpPr>
          <p:cNvPr id="5" name="Text 1"/>
          <p:cNvSpPr txBox="1"/>
          <p:nvPr/>
        </p:nvSpPr>
        <p:spPr>
          <a:xfrm>
            <a:off x="6583680" y="4434840"/>
            <a:ext cx="502920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target fruit sets a scale and shift for every channel of both camera encoders</a:t>
            </a:r>
            <a:endParaRPr lang="en-US" sz="1400" dirty="0"/>
          </a:p>
          <a:p>
            <a:pPr marL="342900" indent="-342900">
              <a:spcAft>
                <a:spcPts val="800"/>
              </a:spcAft>
              <a:buSzPct val="100000"/>
              <a:buChar char="•"/>
            </a:pPr>
            <a:r>
              <a:rPr lang="en-US" sz="1400" dirty="0">
                <a:solidFill>
                  <a:schemeClr val="tx1"/>
                </a:solidFill>
              </a:rPr>
              <a:t>Concatenating the target after the image is encoded lets the policy ignore it</a:t>
            </a:r>
            <a:endParaRPr lang="en-US" sz="1400" dirty="0"/>
          </a:p>
          <a:p>
            <a:pPr marL="342900" indent="-342900">
              <a:spcAft>
                <a:spcPts val="800"/>
              </a:spcAft>
              <a:buSzPct val="100000"/>
              <a:buChar char="•"/>
            </a:pPr>
            <a:r>
              <a:rPr lang="en-US" sz="1400" dirty="0">
                <a:solidFill>
                  <a:schemeClr val="tx1"/>
                </a:solidFill>
              </a:rPr>
              <a:t>Same idea as BC-Z and RT-1 (FiLM: Perez et al., 2018)</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188720"/>
          </a:xfrm>
          <a:prstGeom prst="rect">
            <a:avLst/>
          </a:prstGeom>
          <a:noFill/>
          <a:ln/>
        </p:spPr>
        <p:txBody>
          <a:bodyPr wrap="square" lIns="0" tIns="0" rIns="0" bIns="0" rtlCol="0"/>
          <a:lstStyle/>
          <a:p>
            <a:pPr algn="l" indent="0" marL="0">
              <a:buNone/>
            </a:pPr>
            <a:r>
              <a:rPr lang="en-US" sz="4000" b="1" dirty="0">
                <a:solidFill>
                  <a:schemeClr val="tx1"/>
                </a:solidFill>
              </a:rPr>
              <a:t>Results</a:t>
            </a:r>
            <a:endParaRPr lang="en-US" sz="4000" dirty="0"/>
          </a:p>
        </p:txBody>
      </p:sp>
      <p:sp>
        <p:nvSpPr>
          <p:cNvPr id="3" name="Text 0"/>
          <p:cNvSpPr/>
          <p:nvPr>
            <p:ph idx="101" type="body" hasCustomPrompt="1"/>
          </p:nvPr>
        </p:nvSpPr>
        <p:spPr>
          <a:xfrm>
            <a:off x="548640" y="3611880"/>
            <a:ext cx="11064240" cy="914400"/>
          </a:xfrm>
          <a:prstGeom prst="rect">
            <a:avLst/>
          </a:prstGeom>
          <a:noFill/>
          <a:ln/>
        </p:spPr>
        <p:txBody>
          <a:bodyPr wrap="square" lIns="0" tIns="0" rIns="0" bIns="0" rtlCol="0"/>
          <a:lstStyle/>
          <a:p>
            <a:pPr algn="l" indent="0" marL="0">
              <a:buNone/>
            </a:pPr>
            <a:r>
              <a:rPr lang="en-US" sz="1800" dirty="0">
                <a:solidFill>
                  <a:schemeClr val="tx2"/>
                </a:solidFill>
              </a:rPr>
              <a:t>Trained on my clips, compared with larger models, and an ablation of the data source</a:t>
            </a:r>
            <a:endParaRPr lang="en-US" sz="18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Trained on my 24 clips</a:t>
            </a:r>
            <a:endParaRPr lang="en-US" sz="3200" dirty="0"/>
          </a:p>
        </p:txBody>
      </p:sp>
      <p:graphicFrame>
        <p:nvGraphicFramePr>
          <p:cNvPr id="3" name="chart: my clips" descr=""/>
          <p:cNvGraphicFramePr/>
          <p:nvPr/>
        </p:nvGraphicFramePr>
        <p:xfrm>
          <a:off x="548640" y="1280160"/>
          <a:ext cx="676656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held-out layouts"/>
          <p:cNvGraphicFramePr>
            <a:graphicFrameLocks noGrp="1"/>
          </p:cNvGraphicFramePr>
          <p:nvPr>
            <p:extLst>
              <p:ext uri="{D42A27DB-BD31-4B8C-83A1-F6EECF244321}">
                <p14:modId xmlns:p14="http://schemas.microsoft.com/office/powerpoint/2010/main" val="1579011935"/>
              </p:ext>
            </p:extLst>
          </p:nvPr>
        </p:nvGraphicFramePr>
        <p:xfrm>
          <a:off x="7772400" y="1371600"/>
          <a:ext cx="3840480" cy="914400"/>
        </p:xfrm>
        <a:graphic>
          <a:graphicData uri="http://schemas.openxmlformats.org/drawingml/2006/table">
            <a:tbl>
              <a:tblPr/>
              <a:tblGrid>
                <a:gridCol w="1371600"/>
                <a:gridCol w="1463040"/>
                <a:gridCol w="1005840"/>
              </a:tblGrid>
              <a:tr h="38404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Held-out clip</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Success</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5796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pear</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5798</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pear</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5801</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persimmon</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5809</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persimmon</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5816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mandarin</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5819</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mandarin</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7772400" y="4251960"/>
            <a:ext cx="3840480" cy="1737360"/>
          </a:xfrm>
          <a:prstGeom prst="rect">
            <a:avLst/>
          </a:prstGeom>
          <a:noFill/>
          <a:ln/>
        </p:spPr>
        <p:txBody>
          <a:bodyPr wrap="square" lIns="0" tIns="0" rIns="0" bIns="0" rtlCol="0" anchor="t"/>
          <a:lstStyle/>
          <a:p>
            <a:pPr indent="0" marL="0">
              <a:buNone/>
            </a:pPr>
            <a:r>
              <a:rPr lang="en-US" sz="1200" dirty="0">
                <a:solidFill>
                  <a:schemeClr val="tx2"/>
                </a:solidFill>
              </a:rPr>
              <a:t>Clip 5819 is crowded: the mandarin sits 5.8 cm from the pear. A first run gave 73%: my code clamped each object into the work area separately and pushed a fruit into the bowl; layouts are now moved as a whole.</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Policies compared on the same 771 demos</a:t>
            </a:r>
            <a:endParaRPr lang="en-US" sz="3200" dirty="0"/>
          </a:p>
        </p:txBody>
      </p:sp>
      <p:graphicFrame>
        <p:nvGraphicFramePr>
          <p:cNvPr id="3" name="chart: policies" descr=""/>
          <p:cNvGraphicFramePr/>
          <p:nvPr/>
        </p:nvGraphicFramePr>
        <p:xfrm>
          <a:off x="548640" y="1280160"/>
          <a:ext cx="713232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46720" y="1371600"/>
            <a:ext cx="3566160" cy="4572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Same demonstrations for all four; demos generated from public EgoDex clips</a:t>
            </a:r>
            <a:endParaRPr lang="en-US" sz="1400" dirty="0"/>
          </a:p>
          <a:p>
            <a:pPr marL="342900" indent="-342900">
              <a:spcAft>
                <a:spcPts val="800"/>
              </a:spcAft>
              <a:buSzPct val="100000"/>
              <a:buChar char="•"/>
            </a:pPr>
            <a:r>
              <a:rPr lang="en-US" sz="1400" dirty="0">
                <a:solidFill>
                  <a:schemeClr val="tx1"/>
                </a:solidFill>
              </a:rPr>
              <a:t>SmolVLA reads the instruction but grounds it weakly with this little data, and favours the pear</a:t>
            </a:r>
            <a:endParaRPr lang="en-US" sz="1400" dirty="0"/>
          </a:p>
          <a:p>
            <a:pPr marL="342900" indent="-342900">
              <a:spcAft>
                <a:spcPts val="800"/>
              </a:spcAft>
              <a:buSzPct val="100000"/>
              <a:buChar char="•"/>
            </a:pPr>
            <a:r>
              <a:rPr lang="en-US" sz="1400" dirty="0">
                <a:solidFill>
                  <a:schemeClr val="tx1"/>
                </a:solidFill>
              </a:rPr>
              <a:t>ACT and Diffusion Policy get the target only as a one-hot in the robot state, the same weakness as concatenation</a:t>
            </a:r>
            <a:endParaRPr lang="en-US" sz="1400" dirty="0"/>
          </a:p>
          <a:p>
            <a:pPr marL="342900" indent="-342900">
              <a:spcAft>
                <a:spcPts val="800"/>
              </a:spcAft>
              <a:buSzPct val="100000"/>
              <a:buChar char="•"/>
            </a:pPr>
            <a:r>
              <a:rPr lang="en-US" sz="1400" dirty="0">
                <a:solidFill>
                  <a:schemeClr val="tx1"/>
                </a:solidFill>
              </a:rPr>
              <a:t>Temporal ensembling did not help ACT (10.7% vs 13.3%)</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Does my data matter? Ablation of the demo source</a:t>
            </a:r>
            <a:endParaRPr lang="en-US" sz="3200" dirty="0"/>
          </a:p>
        </p:txBody>
      </p:sp>
      <p:graphicFrame>
        <p:nvGraphicFramePr>
          <p:cNvPr id="3" name="chart: ablation" descr=""/>
          <p:cNvGraphicFramePr/>
          <p:nvPr/>
        </p:nvGraphicFramePr>
        <p:xfrm>
          <a:off x="548640" y="1280160"/>
          <a:ext cx="713232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46720" y="1371600"/>
            <a:ext cx="3566160" cy="4572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Observed random-layout gain: 6–7 points over the scripted expert; one training seed per arm</a:t>
            </a:r>
            <a:endParaRPr lang="en-US" sz="1400" dirty="0"/>
          </a:p>
          <a:p>
            <a:pPr marL="342900" indent="-342900">
              <a:spcAft>
                <a:spcPts val="800"/>
              </a:spcAft>
              <a:buSzPct val="100000"/>
              <a:buChar char="•"/>
            </a:pPr>
            <a:r>
              <a:rPr lang="en-US" sz="1400" dirty="0">
                <a:solidFill>
                  <a:schemeClr val="tx1"/>
                </a:solidFill>
              </a:rPr>
              <a:t>Most of the gain is on the pear: 76% → 88–94%; grasp diversity is a plausible explanation</a:t>
            </a:r>
            <a:endParaRPr lang="en-US" sz="1400" dirty="0"/>
          </a:p>
          <a:p>
            <a:pPr marL="342900" indent="-342900">
              <a:spcAft>
                <a:spcPts val="800"/>
              </a:spcAft>
              <a:buSzPct val="100000"/>
              <a:buChar char="•"/>
            </a:pPr>
            <a:r>
              <a:rPr lang="en-US" sz="1400" dirty="0">
                <a:solidFill>
                  <a:schemeClr val="tx1"/>
                </a:solidFill>
              </a:rPr>
              <a:t>No clear difference on crowded layouts</a:t>
            </a:r>
            <a:endParaRPr lang="en-US" sz="1400" dirty="0"/>
          </a:p>
          <a:p>
            <a:pPr marL="342900" indent="-342900">
              <a:spcAft>
                <a:spcPts val="800"/>
              </a:spcAft>
              <a:buSzPct val="100000"/>
              <a:buChar char="•"/>
            </a:pPr>
            <a:r>
              <a:rPr lang="en-US" sz="1400" dirty="0">
                <a:solidFill>
                  <a:schemeClr val="tx1"/>
                </a:solidFill>
              </a:rPr>
              <a:t>38 EgoDex styles outperform my 24 here; source and diversity are confounded</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Rollouts on new layouts</a:t>
            </a:r>
            <a:endParaRPr lang="en-US" sz="3200" dirty="0"/>
          </a:p>
        </p:txBody>
      </p:sp>
      <p:pic>
        <p:nvPicPr>
          <p:cNvPr id="3" name="video: policy rollouts">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371600"/>
            <a:ext cx="11064240" cy="2075688"/>
          </a:xfrm>
          <a:prstGeom prst="rect">
            <a:avLst/>
          </a:prstGeom>
        </p:spPr>
      </p:pic>
      <p:sp>
        <p:nvSpPr>
          <p:cNvPr id="4" name="Text 1"/>
          <p:cNvSpPr txBox="1"/>
          <p:nvPr/>
        </p:nvSpPr>
        <p:spPr>
          <a:xfrm>
            <a:off x="548640" y="3520440"/>
            <a:ext cx="11064240" cy="365760"/>
          </a:xfrm>
          <a:prstGeom prst="rect">
            <a:avLst/>
          </a:prstGeom>
          <a:noFill/>
          <a:ln/>
        </p:spPr>
        <p:txBody>
          <a:bodyPr wrap="square" lIns="0" tIns="0" rIns="0" bIns="0" rtlCol="0" anchor="t"/>
          <a:lstStyle/>
          <a:p>
            <a:pPr indent="0" marL="0">
              <a:buNone/>
            </a:pPr>
            <a:r>
              <a:rPr lang="en-US" sz="1200" dirty="0">
                <a:solidFill>
                  <a:schemeClr val="accent5"/>
                </a:solidFill>
              </a:rPr>
              <a:t>FiLM policy trained on my clips: four environments with random layouts and instructions.</a:t>
            </a:r>
            <a:endParaRPr lang="en-US" sz="1200" dirty="0"/>
          </a:p>
        </p:txBody>
      </p:sp>
      <p:pic>
        <p:nvPicPr>
          <p:cNvPr id="5" name="smolvla_rollouts.jpg" descr="/home/mohamed/tries/2026-10-08-humanoid-internship-uk-plans/docs/presentation/assets/smolvla_rollouts.jpg">    </p:cNvPr>
          <p:cNvPicPr>
            <a:picLocks noChangeAspect="1"/>
          </p:cNvPicPr>
          <p:nvPr/>
        </p:nvPicPr>
        <p:blipFill>
          <a:blip r:embed="rId4"/>
          <a:stretch>
            <a:fillRect/>
          </a:stretch>
        </p:blipFill>
        <p:spPr>
          <a:xfrm>
            <a:off x="548640" y="4069652"/>
            <a:ext cx="11064240" cy="2074545"/>
          </a:xfrm>
          <a:prstGeom prst="rect">
            <a:avLst/>
          </a:prstGeom>
        </p:spPr>
      </p:pic>
      <p:sp>
        <p:nvSpPr>
          <p:cNvPr id="6" name="Text 2"/>
          <p:cNvSpPr txBox="1"/>
          <p:nvPr/>
        </p:nvSpPr>
        <p:spPr>
          <a:xfrm>
            <a:off x="548640" y="6217920"/>
            <a:ext cx="11064240" cy="365760"/>
          </a:xfrm>
          <a:prstGeom prst="rect">
            <a:avLst/>
          </a:prstGeom>
          <a:noFill/>
          <a:ln/>
        </p:spPr>
        <p:txBody>
          <a:bodyPr wrap="square" lIns="0" tIns="0" rIns="0" bIns="0" rtlCol="0" anchor="t"/>
          <a:lstStyle/>
          <a:p>
            <a:pPr indent="0" marL="0">
              <a:buNone/>
            </a:pPr>
            <a:r>
              <a:rPr lang="en-US" sz="1200" dirty="0">
                <a:solidFill>
                  <a:schemeClr val="accent5"/>
                </a:solidFill>
              </a:rPr>
              <a:t>SmolVLA on the same task, but EgoDex-derived development demos: 22% success.</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clip, three robots</a:t>
            </a:r>
            <a:endParaRPr lang="en-US" sz="3200" dirty="0"/>
          </a:p>
        </p:txBody>
      </p:sp>
      <p:pic>
        <p:nvPicPr>
          <p:cNvPr id="3" name="video: three robots">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680960" cy="3355848"/>
          </a:xfrm>
          <a:prstGeom prst="rect">
            <a:avLst/>
          </a:prstGeom>
        </p:spPr>
      </p:pic>
      <p:sp>
        <p:nvSpPr>
          <p:cNvPr id="4" name="Text 1"/>
          <p:cNvSpPr txBox="1"/>
          <p:nvPr/>
        </p:nvSpPr>
        <p:spPr>
          <a:xfrm>
            <a:off x="548640" y="4709160"/>
            <a:ext cx="7680960" cy="365760"/>
          </a:xfrm>
          <a:prstGeom prst="rect">
            <a:avLst/>
          </a:prstGeom>
          <a:noFill/>
          <a:ln/>
        </p:spPr>
        <p:txBody>
          <a:bodyPr wrap="square" lIns="0" tIns="0" rIns="0" bIns="0" rtlCol="0" anchor="t"/>
          <a:lstStyle/>
          <a:p>
            <a:pPr indent="0" marL="0">
              <a:buNone/>
            </a:pPr>
            <a:r>
              <a:rPr lang="en-US" sz="1100" dirty="0">
                <a:solidFill>
                  <a:schemeClr val="accent5"/>
                </a:solidFill>
              </a:rPr>
              <a:t>My clip 5802 and the same keyframes on three arms, all rendered from my phone's calibrated camera.</a:t>
            </a:r>
            <a:endParaRPr lang="en-US" sz="1100" dirty="0"/>
          </a:p>
        </p:txBody>
      </p:sp>
      <p:graphicFrame>
        <p:nvGraphicFramePr>
          <p:cNvPr id="15" name="table: robots"/>
          <p:cNvGraphicFramePr>
            <a:graphicFrameLocks noGrp="1"/>
          </p:cNvGraphicFramePr>
          <p:nvPr>
            <p:extLst>
              <p:ext uri="{D42A27DB-BD31-4B8C-83A1-F6EECF244321}">
                <p14:modId xmlns:p14="http://schemas.microsoft.com/office/powerpoint/2010/main" val="1579011935"/>
              </p:ext>
            </p:extLst>
          </p:nvPr>
        </p:nvGraphicFramePr>
        <p:xfrm>
          <a:off x="8503920" y="1325880"/>
          <a:ext cx="3108960" cy="914400"/>
        </p:xfrm>
        <a:graphic>
          <a:graphicData uri="http://schemas.openxmlformats.org/drawingml/2006/table">
            <a:tbl>
              <a:tblPr/>
              <a:tblGrid>
                <a:gridCol w="1371600"/>
                <a:gridCol w="868680"/>
                <a:gridCol w="868680"/>
              </a:tblGrid>
              <a:tr h="36576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Robot</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30 styles</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128 new</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Franka Panda</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xArm6 + Robotiq</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WidowX AI</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9525" cap="flat" cmpd="sng" algn="ctr">
                      <a:solidFill>
                        <a:srgbClr val="E3E6E1"/>
                      </a:solidFill>
                      <a:prstDash val="solid"/>
                      <a:round/>
                      <a:headEnd type="none" w="med" len="med"/>
                      <a:tailEnd type="none" w="med" len="med"/>
                    </a:lnL>
                    <a:lnR w="9525" cap="flat" cmpd="sng" algn="ctr">
                      <a:solidFill>
                        <a:srgbClr val="E3E6E1"/>
                      </a:solidFill>
                      <a:prstDash val="solid"/>
                      <a:round/>
                      <a:headEnd type="none" w="med" len="med"/>
                      <a:tailEnd type="none" w="med" len="med"/>
                    </a:lnR>
                    <a:lnT w="9525" cap="flat" cmpd="sng" algn="ctr">
                      <a:solidFill>
                        <a:srgbClr val="E3E6E1"/>
                      </a:solidFill>
                      <a:prstDash val="solid"/>
                      <a:round/>
                      <a:headEnd type="none" w="med" len="med"/>
                      <a:tailEnd type="none" w="med" len="med"/>
                    </a:lnT>
                    <a:lnB w="9525" cap="flat" cmpd="sng" algn="ctr">
                      <a:solidFill>
                        <a:srgbClr val="E3E6E1"/>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8503920" y="3246120"/>
            <a:ext cx="31089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The keyframes are embodiment-agnostic: where to approach from, the grasp angle, heights, release</a:t>
            </a:r>
            <a:endParaRPr lang="en-US" sz="1300" dirty="0"/>
          </a:p>
          <a:p>
            <a:pPr marL="342900" indent="-342900">
              <a:spcAft>
                <a:spcPts val="800"/>
              </a:spcAft>
              <a:buSzPct val="100000"/>
              <a:buChar char="•"/>
            </a:pPr>
            <a:r>
              <a:rPr lang="en-US" sz="1300" dirty="0">
                <a:solidFill>
                  <a:schemeClr val="tx1"/>
                </a:solidFill>
              </a:rPr>
              <a:t>Each arm only translates the command: end-effector control, or my own GPU inverse kinematics for the WidowX</a:t>
            </a:r>
            <a:endParaRPr lang="en-US" sz="1300" dirty="0"/>
          </a:p>
          <a:p>
            <a:pPr marL="342900" indent="-342900">
              <a:spcAft>
                <a:spcPts val="800"/>
              </a:spcAft>
              <a:buSzPct val="100000"/>
              <a:buChar char="•"/>
            </a:pPr>
            <a:r>
              <a:rPr lang="en-US" sz="1300" dirty="0">
                <a:solidFill>
                  <a:schemeClr val="tx1"/>
                </a:solidFill>
              </a:rPr>
              <a:t>A small arm keeps my style but caps my carry height to its reach</a:t>
            </a:r>
            <a:endParaRPr lang="en-US" sz="1300" dirty="0"/>
          </a:p>
        </p:txBody>
      </p:sp>
      <p:sp>
        <p:nvSpPr>
          <p:cNvPr id="7" name="Text 3"/>
          <p:cNvSpPr txBox="1"/>
          <p:nvPr/>
        </p:nvSpPr>
        <p:spPr>
          <a:xfrm>
            <a:off x="548640" y="5349240"/>
            <a:ext cx="7680960" cy="640080"/>
          </a:xfrm>
          <a:prstGeom prst="rect">
            <a:avLst/>
          </a:prstGeom>
          <a:noFill/>
          <a:ln/>
        </p:spPr>
        <p:txBody>
          <a:bodyPr wrap="square" lIns="0" tIns="0" rIns="0" bIns="0" rtlCol="0" anchor="t"/>
          <a:lstStyle/>
          <a:p>
            <a:pPr indent="0" marL="0">
              <a:buNone/>
            </a:pPr>
            <a:r>
              <a:rPr lang="en-US" sz="1200" dirty="0">
                <a:solidFill>
                  <a:schemeClr val="tx2"/>
                </a:solidFill>
              </a:rPr>
              <a:t>Controller replay, not policy transfer. 16 measured layouts + 14 sampled replacements; 260 control steps.</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150× lower model-call latency than SmolVLA</a:t>
            </a:r>
            <a:endParaRPr lang="en-US" sz="3200" dirty="0"/>
          </a:p>
        </p:txBody>
      </p:sp>
      <p:graphicFrame>
        <p:nvGraphicFramePr>
          <p:cNvPr id="3" name="chart: speed"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371600"/>
            <a:ext cx="36576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0.69 ms</a:t>
            </a:r>
            <a:endParaRPr lang="en-US" sz="6000" dirty="0"/>
          </a:p>
        </p:txBody>
      </p:sp>
      <p:sp>
        <p:nvSpPr>
          <p:cNvPr id="5" name="Text 2"/>
          <p:cNvSpPr txBox="1"/>
          <p:nvPr/>
        </p:nvSpPr>
        <p:spPr>
          <a:xfrm>
            <a:off x="7955280" y="2331720"/>
            <a:ext cx="3657600" cy="685800"/>
          </a:xfrm>
          <a:prstGeom prst="rect">
            <a:avLst/>
          </a:prstGeom>
          <a:noFill/>
          <a:ln/>
        </p:spPr>
        <p:txBody>
          <a:bodyPr wrap="square" lIns="0" tIns="0" rIns="0" bIns="0" rtlCol="0" anchor="t"/>
          <a:lstStyle/>
          <a:p>
            <a:pPr indent="0" marL="0">
              <a:buNone/>
            </a:pPr>
            <a:r>
              <a:rPr lang="en-US" sz="1400" dirty="0">
                <a:solidFill>
                  <a:schemeClr val="tx2"/>
                </a:solidFill>
              </a:rPr>
              <a:t>per action chunk for the optimised FiLM policy (25M parameters)</a:t>
            </a:r>
            <a:endParaRPr lang="en-US" sz="1400" dirty="0"/>
          </a:p>
        </p:txBody>
      </p:sp>
      <p:sp>
        <p:nvSpPr>
          <p:cNvPr id="6" name="Text 3"/>
          <p:cNvSpPr txBox="1"/>
          <p:nvPr/>
        </p:nvSpPr>
        <p:spPr>
          <a:xfrm>
            <a:off x="7955280" y="3017520"/>
            <a:ext cx="365760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2.7×</a:t>
            </a:r>
            <a:endParaRPr lang="en-US" sz="6000" dirty="0"/>
          </a:p>
        </p:txBody>
      </p:sp>
      <p:sp>
        <p:nvSpPr>
          <p:cNvPr id="7" name="Text 4"/>
          <p:cNvSpPr txBox="1"/>
          <p:nvPr/>
        </p:nvSpPr>
        <p:spPr>
          <a:xfrm>
            <a:off x="7955280" y="3977640"/>
            <a:ext cx="3657600" cy="685800"/>
          </a:xfrm>
          <a:prstGeom prst="rect">
            <a:avLst/>
          </a:prstGeom>
          <a:noFill/>
          <a:ln/>
        </p:spPr>
        <p:txBody>
          <a:bodyPr wrap="square" lIns="0" tIns="0" rIns="0" bIns="0" rtlCol="0" anchor="t"/>
          <a:lstStyle/>
          <a:p>
            <a:pPr indent="0" marL="0">
              <a:buNone/>
            </a:pPr>
            <a:r>
              <a:rPr lang="en-US" sz="1400" dirty="0">
                <a:solidFill>
                  <a:schemeClr val="tx2"/>
                </a:solidFill>
              </a:rPr>
              <a:t>from half precision, channels-last and torch.compile alone</a:t>
            </a:r>
            <a:endParaRPr lang="en-US" sz="1400" dirty="0"/>
          </a:p>
        </p:txBody>
      </p:sp>
      <p:sp>
        <p:nvSpPr>
          <p:cNvPr id="8" name="Text 5"/>
          <p:cNvSpPr txBox="1"/>
          <p:nvPr/>
        </p:nvSpPr>
        <p:spPr>
          <a:xfrm>
            <a:off x="7955280" y="4846320"/>
            <a:ext cx="3657600" cy="1051560"/>
          </a:xfrm>
          <a:prstGeom prst="rect">
            <a:avLst/>
          </a:prstGeom>
          <a:noFill/>
          <a:ln/>
        </p:spPr>
        <p:txBody>
          <a:bodyPr wrap="square" lIns="0" tIns="0" rIns="0" bIns="0" rtlCol="0" anchor="t"/>
          <a:lstStyle/>
          <a:p>
            <a:pPr indent="0" marL="0">
              <a:buNone/>
            </a:pPr>
            <a:r>
              <a:rPr lang="en-US" sz="1300" dirty="0">
                <a:solidFill>
                  <a:schemeClr val="tx2"/>
                </a:solidFill>
              </a:rPr>
              <a:t>Model-only timing; ~75× per executed action because chunks differ. No end-to-end or fp16 success claim.</a:t>
            </a:r>
            <a:endParaRPr lang="en-US" sz="13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world model of my task: where it can be trusted</a:t>
            </a:r>
            <a:endParaRPr lang="en-US" sz="3200" dirty="0"/>
          </a:p>
        </p:txBody>
      </p:sp>
      <p:pic>
        <p:nvPicPr>
          <p:cNvPr id="3" name="wm_fidelity.png" descr="/home/mohamed/tries/2026-10-08-humanoid-internship-uk-plans/docs/presentation/assets/wm_fidelity.png">    </p:cNvPr>
          <p:cNvPicPr>
            <a:picLocks noChangeAspect="1"/>
          </p:cNvPicPr>
          <p:nvPr/>
        </p:nvPicPr>
        <p:blipFill>
          <a:blip r:embed="rId1"/>
          <a:stretch>
            <a:fillRect/>
          </a:stretch>
        </p:blipFill>
        <p:spPr>
          <a:xfrm>
            <a:off x="548640" y="1234440"/>
            <a:ext cx="11064240" cy="4023360"/>
          </a:xfrm>
          <a:prstGeom prst="rect">
            <a:avLst/>
          </a:prstGeom>
        </p:spPr>
      </p:pic>
      <p:sp>
        <p:nvSpPr>
          <p:cNvPr id="4" name="Text 1"/>
          <p:cNvSpPr txBox="1"/>
          <p:nvPr/>
        </p:nvSpPr>
        <p:spPr>
          <a:xfrm>
            <a:off x="548640" y="5349240"/>
            <a:ext cx="13716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 s</a:t>
            </a:r>
            <a:endParaRPr lang="en-US" sz="2800" dirty="0"/>
          </a:p>
        </p:txBody>
      </p:sp>
      <p:sp>
        <p:nvSpPr>
          <p:cNvPr id="5" name="Text 2"/>
          <p:cNvSpPr txBox="1"/>
          <p:nvPr/>
        </p:nvSpPr>
        <p:spPr>
          <a:xfrm>
            <a:off x="1920240" y="5349240"/>
            <a:ext cx="2286000" cy="822960"/>
          </a:xfrm>
          <a:prstGeom prst="rect">
            <a:avLst/>
          </a:prstGeom>
          <a:noFill/>
          <a:ln/>
        </p:spPr>
        <p:txBody>
          <a:bodyPr wrap="square" lIns="0" tIns="0" rIns="0" bIns="0" rtlCol="0" anchor="t"/>
          <a:lstStyle/>
          <a:p>
            <a:pPr indent="0" marL="0">
              <a:buNone/>
            </a:pPr>
            <a:r>
              <a:rPr lang="en-US" sz="1200" dirty="0">
                <a:solidFill>
                  <a:schemeClr val="tx2"/>
                </a:solidFill>
              </a:rPr>
              <a:t>median fruit error under 1 cm; not a tail bound</a:t>
            </a:r>
            <a:endParaRPr lang="en-US" sz="1200" dirty="0"/>
          </a:p>
        </p:txBody>
      </p:sp>
      <p:sp>
        <p:nvSpPr>
          <p:cNvPr id="6" name="Text 3"/>
          <p:cNvSpPr txBox="1"/>
          <p:nvPr/>
        </p:nvSpPr>
        <p:spPr>
          <a:xfrm>
            <a:off x="4297680" y="5349240"/>
            <a:ext cx="13716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89%</a:t>
            </a:r>
            <a:endParaRPr lang="en-US" sz="2800" dirty="0"/>
          </a:p>
        </p:txBody>
      </p:sp>
      <p:sp>
        <p:nvSpPr>
          <p:cNvPr id="7" name="Text 4"/>
          <p:cNvSpPr txBox="1"/>
          <p:nvPr/>
        </p:nvSpPr>
        <p:spPr>
          <a:xfrm>
            <a:off x="5669280" y="5349240"/>
            <a:ext cx="2286000" cy="822960"/>
          </a:xfrm>
          <a:prstGeom prst="rect">
            <a:avLst/>
          </a:prstGeom>
          <a:noFill/>
          <a:ln/>
        </p:spPr>
        <p:txBody>
          <a:bodyPr wrap="square" lIns="0" tIns="0" rIns="0" bIns="0" rtlCol="0" anchor="t"/>
          <a:lstStyle/>
          <a:p>
            <a:pPr indent="0" marL="0">
              <a:buNone/>
            </a:pPr>
            <a:r>
              <a:rPr lang="en-US" sz="1200" dirty="0">
                <a:solidFill>
                  <a:schemeClr val="tx2"/>
                </a:solidFill>
              </a:rPr>
              <a:t>episode outcome accuracy (tie-aware AUC 0.95); reference 84%</a:t>
            </a:r>
            <a:endParaRPr lang="en-US" sz="1200" dirty="0"/>
          </a:p>
        </p:txBody>
      </p:sp>
      <p:sp>
        <p:nvSpPr>
          <p:cNvPr id="8" name="Text 5"/>
          <p:cNvSpPr txBox="1"/>
          <p:nvPr/>
        </p:nvSpPr>
        <p:spPr>
          <a:xfrm>
            <a:off x="8046720" y="5349240"/>
            <a:ext cx="13716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9×</a:t>
            </a:r>
            <a:endParaRPr lang="en-US" sz="2800" dirty="0"/>
          </a:p>
        </p:txBody>
      </p:sp>
      <p:sp>
        <p:nvSpPr>
          <p:cNvPr id="9" name="Text 6"/>
          <p:cNvSpPr txBox="1"/>
          <p:nvPr/>
        </p:nvSpPr>
        <p:spPr>
          <a:xfrm>
            <a:off x="9418320" y="5349240"/>
            <a:ext cx="2286000" cy="822960"/>
          </a:xfrm>
          <a:prstGeom prst="rect">
            <a:avLst/>
          </a:prstGeom>
          <a:noFill/>
          <a:ln/>
        </p:spPr>
        <p:txBody>
          <a:bodyPr wrap="square" lIns="0" tIns="0" rIns="0" bIns="0" rtlCol="0" anchor="t"/>
          <a:lstStyle/>
          <a:p>
            <a:pPr indent="0" marL="0">
              <a:buNone/>
            </a:pPr>
            <a:r>
              <a:rPr lang="en-US" sz="1200" dirty="0">
                <a:solidFill>
                  <a:schemeClr val="tx2"/>
                </a:solidFill>
              </a:rPr>
              <a:t>error of its most-disagreeing predictions vs its most-agreeing, at 1 s</a:t>
            </a:r>
            <a:endParaRPr lang="en-US" sz="12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world model imagining held-out episodes</a:t>
            </a:r>
            <a:endParaRPr lang="en-US" sz="3200" dirty="0"/>
          </a:p>
        </p:txBody>
      </p:sp>
      <p:pic>
        <p:nvPicPr>
          <p:cNvPr id="3" name="video: world model imaginati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11064240" cy="3867912"/>
          </a:xfrm>
          <a:prstGeom prst="rect">
            <a:avLst/>
          </a:prstGeom>
        </p:spPr>
      </p:pic>
      <p:sp>
        <p:nvSpPr>
          <p:cNvPr id="4" name="Text 1"/>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300" dirty="0">
                <a:solidFill>
                  <a:schemeClr val="tx2"/>
                </a:solidFill>
              </a:rPr>
              <a:t>Given only the first state and the actions, the model imagines 12 s of the episode (orange; faint lines: the five ensemble members) against the simulator (black). Right: it correctly predicts a failure.</a:t>
            </a:r>
            <a:endParaRPr lang="en-US" sz="13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188720"/>
          </a:xfrm>
          <a:prstGeom prst="rect">
            <a:avLst/>
          </a:prstGeom>
          <a:noFill/>
          <a:ln/>
        </p:spPr>
        <p:txBody>
          <a:bodyPr wrap="square" lIns="0" tIns="0" rIns="0" bIns="0" rtlCol="0"/>
          <a:lstStyle/>
          <a:p>
            <a:pPr algn="l" indent="0" marL="0">
              <a:buNone/>
            </a:pPr>
            <a:r>
              <a:rPr lang="en-US" sz="4000" b="1" dirty="0">
                <a:solidFill>
                  <a:schemeClr val="tx1"/>
                </a:solidFill>
              </a:rPr>
              <a:t>What I tried and dropped</a:t>
            </a:r>
            <a:endParaRPr lang="en-US" sz="4000" dirty="0"/>
          </a:p>
        </p:txBody>
      </p:sp>
      <p:sp>
        <p:nvSpPr>
          <p:cNvPr id="3" name="Text 0"/>
          <p:cNvSpPr/>
          <p:nvPr>
            <p:ph idx="101" type="body" hasCustomPrompt="1"/>
          </p:nvPr>
        </p:nvSpPr>
        <p:spPr>
          <a:xfrm>
            <a:off x="548640" y="3611880"/>
            <a:ext cx="11064240" cy="914400"/>
          </a:xfrm>
          <a:prstGeom prst="rect">
            <a:avLst/>
          </a:prstGeom>
          <a:noFill/>
          <a:ln/>
        </p:spPr>
        <p:txBody>
          <a:bodyPr wrap="square" lIns="0" tIns="0" rIns="0" bIns="0" rtlCol="0"/>
          <a:lstStyle/>
          <a:p>
            <a:pPr algn="l" indent="0" marL="0">
              <a:buNone/>
            </a:pPr>
            <a:r>
              <a:rPr lang="en-US" sz="1800" dirty="0">
                <a:solidFill>
                  <a:schemeClr val="tx2"/>
                </a:solidFill>
              </a:rPr>
              <a:t>Each with what I measured before stopping</a:t>
            </a:r>
            <a:endParaRPr lang="en-US" sz="18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Live phone teleoperation</a:t>
            </a:r>
            <a:endParaRPr lang="en-US" sz="3200" dirty="0"/>
          </a:p>
        </p:txBody>
      </p:sp>
      <p:pic>
        <p:nvPicPr>
          <p:cNvPr id="3" name="teleop_window_final.jpg" descr="/home/mohamed/tries/2026-10-08-humanoid-internship-uk-plans/docs/presentation/assets/teleop_window_final.jpg">    </p:cNvPr>
          <p:cNvPicPr>
            <a:picLocks noChangeAspect="1"/>
          </p:cNvPicPr>
          <p:nvPr/>
        </p:nvPicPr>
        <p:blipFill>
          <a:blip r:embed="rId1"/>
          <a:stretch>
            <a:fillRect/>
          </a:stretch>
        </p:blipFill>
        <p:spPr>
          <a:xfrm>
            <a:off x="548640" y="1281275"/>
            <a:ext cx="7406640" cy="3883970"/>
          </a:xfrm>
          <a:prstGeom prst="rect">
            <a:avLst/>
          </a:prstGeom>
        </p:spPr>
      </p:pic>
      <p:sp>
        <p:nvSpPr>
          <p:cNvPr id="4" name="Text 1"/>
          <p:cNvSpPr txBox="1"/>
          <p:nvPr/>
        </p:nvSpPr>
        <p:spPr>
          <a:xfrm>
            <a:off x="548640" y="5349240"/>
            <a:ext cx="7406640" cy="457200"/>
          </a:xfrm>
          <a:prstGeom prst="rect">
            <a:avLst/>
          </a:prstGeom>
          <a:noFill/>
          <a:ln/>
        </p:spPr>
        <p:txBody>
          <a:bodyPr wrap="square" lIns="0" tIns="0" rIns="0" bIns="0" rtlCol="0" anchor="t"/>
          <a:lstStyle/>
          <a:p>
            <a:pPr indent="0" marL="0">
              <a:buNone/>
            </a:pPr>
            <a:r>
              <a:rPr lang="en-US" sz="1100" dirty="0">
                <a:solidFill>
                  <a:schemeClr val="accent5"/>
                </a:solidFill>
              </a:rPr>
              <a:t>Teleoperation window: robot cameras, a top view and where my hand is in the phone's view.</a:t>
            </a:r>
            <a:endParaRPr lang="en-US" sz="1100" dirty="0"/>
          </a:p>
        </p:txBody>
      </p:sp>
      <p:sp>
        <p:nvSpPr>
          <p:cNvPr id="5" name="Text 2"/>
          <p:cNvSpPr txBox="1"/>
          <p:nvPr/>
        </p:nvSpPr>
        <p:spPr>
          <a:xfrm>
            <a:off x="8412480" y="1371600"/>
            <a:ext cx="3200400" cy="4846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An iPhone app I wrote streams ARKit + LiDAR hand joints to the simulator at 30 Hz</a:t>
            </a:r>
            <a:endParaRPr lang="en-US" sz="1300" dirty="0"/>
          </a:p>
          <a:p>
            <a:pPr marL="342900" indent="-342900">
              <a:spcAft>
                <a:spcPts val="800"/>
              </a:spcAft>
              <a:buSzPct val="100000"/>
              <a:buChar char="•"/>
            </a:pPr>
            <a:r>
              <a:rPr lang="en-US" sz="1300" dirty="0">
                <a:solidFill>
                  <a:schemeClr val="tx1"/>
                </a:solidFill>
              </a:rPr>
              <a:t>Tracking was good: 2.6 mm jitter, depth missing in 0.3% of frames</a:t>
            </a:r>
            <a:endParaRPr lang="en-US" sz="1300" dirty="0"/>
          </a:p>
          <a:p>
            <a:pPr marL="342900" indent="-342900">
              <a:spcAft>
                <a:spcPts val="800"/>
              </a:spcAft>
              <a:buSzPct val="100000"/>
              <a:buChar char="•"/>
            </a:pPr>
            <a:r>
              <a:rPr lang="en-US" sz="1300" dirty="0">
                <a:solidFill>
                  <a:schemeClr val="tx1"/>
                </a:solidFill>
              </a:rPr>
              <a:t>Teleoperating was not: the phone's view was smaller than the motion needed, and height is hard to judge from one view</a:t>
            </a:r>
            <a:endParaRPr lang="en-US" sz="1300" dirty="0"/>
          </a:p>
          <a:p>
            <a:pPr marL="342900" indent="-342900">
              <a:spcAft>
                <a:spcPts val="800"/>
              </a:spcAft>
              <a:buSzPct val="100000"/>
              <a:buChar char="•"/>
            </a:pPr>
            <a:r>
              <a:rPr lang="en-US" sz="1300" dirty="0">
                <a:solidFill>
                  <a:schemeClr val="tx1"/>
                </a:solidFill>
              </a:rPr>
              <a:t>Scale, smoothing, re-anchoring and a top view did not make it practical in time</a:t>
            </a:r>
            <a:endParaRPr lang="en-US" sz="1300" dirty="0"/>
          </a:p>
        </p:txBody>
      </p:sp>
      <p:sp>
        <p:nvSpPr>
          <p:cNvPr id="6" name="Text 3"/>
          <p:cNvSpPr txBox="1"/>
          <p:nvPr/>
        </p:nvSpPr>
        <p:spPr>
          <a:xfrm>
            <a:off x="548640" y="5897880"/>
            <a:ext cx="7406640" cy="411480"/>
          </a:xfrm>
          <a:prstGeom prst="rect">
            <a:avLst/>
          </a:prstGeom>
          <a:noFill/>
          <a:ln/>
        </p:spPr>
        <p:txBody>
          <a:bodyPr wrap="square" lIns="0" tIns="0" rIns="0" bIns="0" rtlCol="0" anchor="t"/>
          <a:lstStyle/>
          <a:p>
            <a:pPr indent="0" marL="0">
              <a:buNone/>
            </a:pPr>
            <a:r>
              <a:rPr lang="en-US" sz="1300" i="1" dirty="0">
                <a:solidFill>
                  <a:schemeClr val="tx2"/>
                </a:solidFill>
              </a:rPr>
              <a:t>Why it matters: robot-native demos would remove retargeting altogether.</a:t>
            </a:r>
            <a:endParaRPr lang="en-US" sz="13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Five-finger Inspire hand</a:t>
            </a:r>
            <a:endParaRPr lang="en-US" sz="3200" dirty="0"/>
          </a:p>
        </p:txBody>
      </p:sp>
      <p:pic>
        <p:nvPicPr>
          <p:cNvPr id="3" name="dexhand_upright_wrist_hits_table.jpg" descr="/home/mohamed/tries/2026-10-08-humanoid-internship-uk-plans/docs/presentation/assets/dexhand_upright_wrist_hits_table.jpg">    </p:cNvPr>
          <p:cNvPicPr>
            <a:picLocks noChangeAspect="1"/>
          </p:cNvPicPr>
          <p:nvPr/>
        </p:nvPicPr>
        <p:blipFill>
          <a:blip r:embed="rId1"/>
          <a:stretch>
            <a:fillRect/>
          </a:stretch>
        </p:blipFill>
        <p:spPr>
          <a:xfrm>
            <a:off x="548640" y="1282446"/>
            <a:ext cx="5486400" cy="3086100"/>
          </a:xfrm>
          <a:prstGeom prst="rect">
            <a:avLst/>
          </a:prstGeom>
        </p:spPr>
      </p:pic>
      <p:pic>
        <p:nvPicPr>
          <p:cNvPr id="4" name="dexhand_scripted_grasp_probe.jpg" descr="/home/mohamed/tries/2026-10-08-humanoid-internship-uk-plans/docs/presentation/assets/dexhand_scripted_grasp_probe.jpg">    </p:cNvPr>
          <p:cNvPicPr>
            <a:picLocks noChangeAspect="1"/>
          </p:cNvPicPr>
          <p:nvPr/>
        </p:nvPicPr>
        <p:blipFill>
          <a:blip r:embed="rId2"/>
          <a:stretch>
            <a:fillRect/>
          </a:stretch>
        </p:blipFill>
        <p:spPr>
          <a:xfrm>
            <a:off x="6309360" y="1282446"/>
            <a:ext cx="4114800" cy="3086100"/>
          </a:xfrm>
          <a:prstGeom prst="rect">
            <a:avLst/>
          </a:prstGeom>
        </p:spPr>
      </p:pic>
      <p:sp>
        <p:nvSpPr>
          <p:cNvPr id="5" name="Text 1"/>
          <p:cNvSpPr txBox="1"/>
          <p:nvPr/>
        </p:nvSpPr>
        <p:spPr>
          <a:xfrm>
            <a:off x="548640" y="4434840"/>
            <a:ext cx="9875520" cy="365760"/>
          </a:xfrm>
          <a:prstGeom prst="rect">
            <a:avLst/>
          </a:prstGeom>
          <a:noFill/>
          <a:ln/>
        </p:spPr>
        <p:txBody>
          <a:bodyPr wrap="square" lIns="0" tIns="0" rIns="0" bIns="0" rtlCol="0" anchor="t"/>
          <a:lstStyle/>
          <a:p>
            <a:pPr indent="0" marL="0">
              <a:buNone/>
            </a:pPr>
            <a:r>
              <a:rPr lang="en-US" sz="1100" dirty="0">
                <a:solidFill>
                  <a:schemeClr val="accent5"/>
                </a:solidFill>
              </a:rPr>
              <a:t>Retargeted EgoDex hands (left) and a scripted grasp probe (right).</a:t>
            </a:r>
            <a:endParaRPr lang="en-US" sz="1100" dirty="0"/>
          </a:p>
        </p:txBody>
      </p:sp>
      <p:sp>
        <p:nvSpPr>
          <p:cNvPr id="6" name="Text 2"/>
          <p:cNvSpPr txBox="1"/>
          <p:nvPr/>
        </p:nvSpPr>
        <p:spPr>
          <a:xfrm>
            <a:off x="548640" y="489204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Goal: transfer the whole hand, wrist and five fingers, instead of a pinch point</a:t>
            </a:r>
            <a:endParaRPr lang="en-US" sz="1400" dirty="0"/>
          </a:p>
          <a:p>
            <a:pPr marL="342900" indent="-342900">
              <a:spcAft>
                <a:spcPts val="800"/>
              </a:spcAft>
              <a:buSzPct val="100000"/>
              <a:buChar char="•"/>
            </a:pPr>
            <a:r>
              <a:rPr lang="en-US" sz="1400" dirty="0">
                <a:solidFill>
                  <a:schemeClr val="tx1"/>
                </a:solidFill>
              </a:rPr>
              <a:t>Retargeting works: palm frames match exactly; finger joints from the simulator's own kinematics</a:t>
            </a:r>
            <a:endParaRPr lang="en-US" sz="1400" dirty="0"/>
          </a:p>
          <a:p>
            <a:pPr marL="342900" indent="-342900">
              <a:spcAft>
                <a:spcPts val="800"/>
              </a:spcAft>
              <a:buSzPct val="100000"/>
              <a:buChar char="•"/>
            </a:pPr>
            <a:r>
              <a:rPr lang="en-US" sz="1400" dirty="0">
                <a:solidFill>
                  <a:schemeClr val="tx1"/>
                </a:solidFill>
              </a:rPr>
              <a:t>Grasping does not: 0 of 8 replays and 0 of 300 scripted grasp geometries lifted a fruit; the hand pushes small fruit away</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Also dropped</a:t>
            </a:r>
            <a:endParaRPr lang="en-US" sz="3200" dirty="0"/>
          </a:p>
        </p:txBody>
      </p:sp>
      <p:sp>
        <p:nvSpPr>
          <p:cNvPr id="3" name="dropped 1"/>
          <p:cNvSpPr/>
          <p:nvPr/>
        </p:nvSpPr>
        <p:spPr>
          <a:xfrm>
            <a:off x="548640" y="1325880"/>
            <a:ext cx="5440680" cy="2286000"/>
          </a:xfrm>
          <a:prstGeom prst="roundRect">
            <a:avLst>
              <a:gd name="adj" fmla="val 3200"/>
            </a:avLst>
          </a:prstGeom>
          <a:solidFill>
            <a:schemeClr val="bg2"/>
          </a:solidFill>
          <a:ln w="12700">
            <a:solidFill>
              <a:schemeClr val="bg2"/>
            </a:solidFill>
            <a:prstDash val="solid"/>
          </a:ln>
        </p:spPr>
      </p:sp>
      <p:sp>
        <p:nvSpPr>
          <p:cNvPr id="4" name="Text 2"/>
          <p:cNvSpPr txBox="1"/>
          <p:nvPr/>
        </p:nvSpPr>
        <p:spPr>
          <a:xfrm>
            <a:off x="822960" y="1554480"/>
            <a:ext cx="2651760" cy="548640"/>
          </a:xfrm>
          <a:prstGeom prst="rect">
            <a:avLst/>
          </a:prstGeom>
          <a:noFill/>
          <a:ln/>
        </p:spPr>
        <p:txBody>
          <a:bodyPr wrap="square" lIns="0" tIns="0" rIns="0" bIns="0" rtlCol="0" anchor="t"/>
          <a:lstStyle/>
          <a:p>
            <a:pPr indent="0" marL="0">
              <a:buNone/>
            </a:pPr>
            <a:r>
              <a:rPr lang="en-US" sz="1700" b="1" dirty="0">
                <a:solidFill>
                  <a:schemeClr val="tx1"/>
                </a:solidFill>
              </a:rPr>
              <a:t>PICO headset</a:t>
            </a:r>
            <a:endParaRPr lang="en-US" sz="1700" dirty="0"/>
          </a:p>
        </p:txBody>
      </p:sp>
      <p:sp>
        <p:nvSpPr>
          <p:cNvPr id="5" name="Text 3"/>
          <p:cNvSpPr txBox="1"/>
          <p:nvPr/>
        </p:nvSpPr>
        <p:spPr>
          <a:xfrm>
            <a:off x="3474720" y="1508760"/>
            <a:ext cx="2286000" cy="548640"/>
          </a:xfrm>
          <a:prstGeom prst="rect">
            <a:avLst/>
          </a:prstGeom>
          <a:noFill/>
          <a:ln/>
        </p:spPr>
        <p:txBody>
          <a:bodyPr wrap="square" lIns="0" tIns="0" rIns="0" bIns="0" rtlCol="0" anchor="t"/>
          <a:lstStyle/>
          <a:p>
            <a:pPr algn="r" indent="0" marL="0">
              <a:buNone/>
            </a:pPr>
            <a:r>
              <a:rPr lang="en-US" sz="2000" b="1" dirty="0">
                <a:solidFill>
                  <a:schemeClr val="accent1"/>
                </a:solidFill>
                <a:latin typeface="Cambria" pitchFamily="34" charset="0"/>
                <a:ea typeface="Cambria" pitchFamily="34" charset="-122"/>
                <a:cs typeface="Cambria" pitchFamily="34" charset="-120"/>
              </a:rPr>
              <a:t>Not pursued</a:t>
            </a:r>
            <a:endParaRPr lang="en-US" sz="2000" dirty="0"/>
          </a:p>
        </p:txBody>
      </p:sp>
      <p:sp>
        <p:nvSpPr>
          <p:cNvPr id="6" name="Text 4"/>
          <p:cNvSpPr txBox="1"/>
          <p:nvPr/>
        </p:nvSpPr>
        <p:spPr>
          <a:xfrm>
            <a:off x="822960" y="2240280"/>
            <a:ext cx="4892040" cy="1188720"/>
          </a:xfrm>
          <a:prstGeom prst="rect">
            <a:avLst/>
          </a:prstGeom>
          <a:noFill/>
          <a:ln/>
        </p:spPr>
        <p:txBody>
          <a:bodyPr wrap="square" lIns="0" tIns="0" rIns="0" bIns="0" rtlCol="0" anchor="t"/>
          <a:lstStyle/>
          <a:p>
            <a:pPr indent="0" marL="0">
              <a:buNone/>
            </a:pPr>
            <a:r>
              <a:rPr lang="en-US" sz="1400" dirty="0">
                <a:solidFill>
                  <a:schemeClr val="tx2"/>
                </a:solidFill>
              </a:rPr>
              <a:t>Metric hand tracking, but phone tracking was not the bottleneck: grasps land ~2 cm from the fruit and 29/30 clips replay. More clips mattered more.</a:t>
            </a:r>
            <a:endParaRPr lang="en-US" sz="1400" dirty="0"/>
          </a:p>
        </p:txBody>
      </p:sp>
      <p:sp>
        <p:nvSpPr>
          <p:cNvPr id="7" name="dropped 2"/>
          <p:cNvSpPr/>
          <p:nvPr/>
        </p:nvSpPr>
        <p:spPr>
          <a:xfrm>
            <a:off x="6172200" y="1325880"/>
            <a:ext cx="5440680" cy="2286000"/>
          </a:xfrm>
          <a:prstGeom prst="roundRect">
            <a:avLst>
              <a:gd name="adj" fmla="val 3200"/>
            </a:avLst>
          </a:prstGeom>
          <a:solidFill>
            <a:schemeClr val="bg2"/>
          </a:solidFill>
          <a:ln w="12700">
            <a:solidFill>
              <a:schemeClr val="bg2"/>
            </a:solidFill>
            <a:prstDash val="solid"/>
          </a:ln>
        </p:spPr>
      </p:sp>
      <p:sp>
        <p:nvSpPr>
          <p:cNvPr id="8" name="Text 6"/>
          <p:cNvSpPr txBox="1"/>
          <p:nvPr/>
        </p:nvSpPr>
        <p:spPr>
          <a:xfrm>
            <a:off x="6446520" y="1554480"/>
            <a:ext cx="2651760" cy="548640"/>
          </a:xfrm>
          <a:prstGeom prst="rect">
            <a:avLst/>
          </a:prstGeom>
          <a:noFill/>
          <a:ln/>
        </p:spPr>
        <p:txBody>
          <a:bodyPr wrap="square" lIns="0" tIns="0" rIns="0" bIns="0" rtlCol="0" anchor="t"/>
          <a:lstStyle/>
          <a:p>
            <a:pPr indent="0" marL="0">
              <a:buNone/>
            </a:pPr>
            <a:r>
              <a:rPr lang="en-US" sz="1700" b="1" dirty="0">
                <a:solidFill>
                  <a:schemeClr val="tx1"/>
                </a:solidFill>
              </a:rPr>
              <a:t>Sentence-encoder instructions</a:t>
            </a:r>
            <a:endParaRPr lang="en-US" sz="1700" dirty="0"/>
          </a:p>
        </p:txBody>
      </p:sp>
      <p:sp>
        <p:nvSpPr>
          <p:cNvPr id="9" name="Text 7"/>
          <p:cNvSpPr txBox="1"/>
          <p:nvPr/>
        </p:nvSpPr>
        <p:spPr>
          <a:xfrm>
            <a:off x="9098280" y="1508760"/>
            <a:ext cx="2286000" cy="548640"/>
          </a:xfrm>
          <a:prstGeom prst="rect">
            <a:avLst/>
          </a:prstGeom>
          <a:noFill/>
          <a:ln/>
        </p:spPr>
        <p:txBody>
          <a:bodyPr wrap="square" lIns="0" tIns="0" rIns="0" bIns="0" rtlCol="0" anchor="t"/>
          <a:lstStyle/>
          <a:p>
            <a:pPr algn="r" indent="0" marL="0">
              <a:buNone/>
            </a:pPr>
            <a:r>
              <a:rPr lang="en-US" sz="2000" b="1" dirty="0">
                <a:solidFill>
                  <a:schemeClr val="accent1"/>
                </a:solidFill>
                <a:latin typeface="Cambria" pitchFamily="34" charset="0"/>
                <a:ea typeface="Cambria" pitchFamily="34" charset="-122"/>
                <a:cs typeface="Cambria" pitchFamily="34" charset="-120"/>
              </a:rPr>
              <a:t>0.66 vs 0.63</a:t>
            </a:r>
            <a:endParaRPr lang="en-US" sz="2000" dirty="0"/>
          </a:p>
        </p:txBody>
      </p:sp>
      <p:sp>
        <p:nvSpPr>
          <p:cNvPr id="10" name="Text 8"/>
          <p:cNvSpPr txBox="1"/>
          <p:nvPr/>
        </p:nvSpPr>
        <p:spPr>
          <a:xfrm>
            <a:off x="6446520" y="2240280"/>
            <a:ext cx="4892040" cy="1188720"/>
          </a:xfrm>
          <a:prstGeom prst="rect">
            <a:avLst/>
          </a:prstGeom>
          <a:noFill/>
          <a:ln/>
        </p:spPr>
        <p:txBody>
          <a:bodyPr wrap="square" lIns="0" tIns="0" rIns="0" bIns="0" rtlCol="0" anchor="t"/>
          <a:lstStyle/>
          <a:p>
            <a:pPr indent="0" marL="0">
              <a:buNone/>
            </a:pPr>
            <a:r>
              <a:rPr lang="en-US" sz="1400" dirty="0">
                <a:solidFill>
                  <a:schemeClr val="tx2"/>
                </a:solidFill>
              </a:rPr>
              <a:t>MiniLM put 'tangerine' closer to 'pear' than to 'mandarin', and barely separated 'in the bowl' from 'next to it' (0.95 vs 0.96).</a:t>
            </a:r>
            <a:endParaRPr lang="en-US" sz="1400" dirty="0"/>
          </a:p>
        </p:txBody>
      </p:sp>
      <p:sp>
        <p:nvSpPr>
          <p:cNvPr id="11" name="dropped 3"/>
          <p:cNvSpPr/>
          <p:nvPr/>
        </p:nvSpPr>
        <p:spPr>
          <a:xfrm>
            <a:off x="548640" y="3840480"/>
            <a:ext cx="5440680" cy="2286000"/>
          </a:xfrm>
          <a:prstGeom prst="roundRect">
            <a:avLst>
              <a:gd name="adj" fmla="val 3200"/>
            </a:avLst>
          </a:prstGeom>
          <a:solidFill>
            <a:schemeClr val="bg2"/>
          </a:solidFill>
          <a:ln w="12700">
            <a:solidFill>
              <a:schemeClr val="bg2"/>
            </a:solidFill>
            <a:prstDash val="solid"/>
          </a:ln>
        </p:spPr>
      </p:sp>
      <p:sp>
        <p:nvSpPr>
          <p:cNvPr id="12" name="Text 10"/>
          <p:cNvSpPr txBox="1"/>
          <p:nvPr/>
        </p:nvSpPr>
        <p:spPr>
          <a:xfrm>
            <a:off x="822960" y="4069080"/>
            <a:ext cx="2651760" cy="548640"/>
          </a:xfrm>
          <a:prstGeom prst="rect">
            <a:avLst/>
          </a:prstGeom>
          <a:noFill/>
          <a:ln/>
        </p:spPr>
        <p:txBody>
          <a:bodyPr wrap="square" lIns="0" tIns="0" rIns="0" bIns="0" rtlCol="0" anchor="t"/>
          <a:lstStyle/>
          <a:p>
            <a:pPr indent="0" marL="0">
              <a:buNone/>
            </a:pPr>
            <a:r>
              <a:rPr lang="en-US" sz="1700" b="1" dirty="0">
                <a:solidFill>
                  <a:schemeClr val="tx1"/>
                </a:solidFill>
              </a:rPr>
              <a:t>SO-100 arm</a:t>
            </a:r>
            <a:endParaRPr lang="en-US" sz="1700" dirty="0"/>
          </a:p>
        </p:txBody>
      </p:sp>
      <p:sp>
        <p:nvSpPr>
          <p:cNvPr id="13" name="Text 11"/>
          <p:cNvSpPr txBox="1"/>
          <p:nvPr/>
        </p:nvSpPr>
        <p:spPr>
          <a:xfrm>
            <a:off x="3474720" y="4023360"/>
            <a:ext cx="2286000" cy="548640"/>
          </a:xfrm>
          <a:prstGeom prst="rect">
            <a:avLst/>
          </a:prstGeom>
          <a:noFill/>
          <a:ln/>
        </p:spPr>
        <p:txBody>
          <a:bodyPr wrap="square" lIns="0" tIns="0" rIns="0" bIns="0" rtlCol="0" anchor="t"/>
          <a:lstStyle/>
          <a:p>
            <a:pPr algn="r" indent="0" marL="0">
              <a:buNone/>
            </a:pPr>
            <a:r>
              <a:rPr lang="en-US" sz="2000" b="1" dirty="0">
                <a:solidFill>
                  <a:schemeClr val="accent1"/>
                </a:solidFill>
                <a:latin typeface="Cambria" pitchFamily="34" charset="0"/>
                <a:ea typeface="Cambria" pitchFamily="34" charset="-122"/>
                <a:cs typeface="Cambria" pitchFamily="34" charset="-120"/>
              </a:rPr>
              <a:t>0.39 m reach</a:t>
            </a:r>
            <a:endParaRPr lang="en-US" sz="2000" dirty="0"/>
          </a:p>
        </p:txBody>
      </p:sp>
      <p:sp>
        <p:nvSpPr>
          <p:cNvPr id="14" name="Text 12"/>
          <p:cNvSpPr txBox="1"/>
          <p:nvPr/>
        </p:nvSpPr>
        <p:spPr>
          <a:xfrm>
            <a:off x="822960" y="4754880"/>
            <a:ext cx="4892040" cy="1188720"/>
          </a:xfrm>
          <a:prstGeom prst="rect">
            <a:avLst/>
          </a:prstGeom>
          <a:noFill/>
          <a:ln/>
        </p:spPr>
        <p:txBody>
          <a:bodyPr wrap="square" lIns="0" tIns="0" rIns="0" bIns="0" rtlCol="0" anchor="t"/>
          <a:lstStyle/>
          <a:p>
            <a:pPr indent="0" marL="0">
              <a:buNone/>
            </a:pPr>
            <a:r>
              <a:rPr lang="en-US" sz="1400" dirty="0">
                <a:solidFill>
                  <a:schemeClr val="tx2"/>
                </a:solidFill>
              </a:rPr>
              <a:t>LeRobot's 5-joint arm cannot cover a 30 x 40 cm table with an 18 cm bowl; it would need the whole scene scaled down.</a:t>
            </a:r>
            <a:endParaRPr lang="en-US" sz="1400" dirty="0"/>
          </a:p>
        </p:txBody>
      </p:sp>
      <p:sp>
        <p:nvSpPr>
          <p:cNvPr id="15" name="dropped 4"/>
          <p:cNvSpPr/>
          <p:nvPr/>
        </p:nvSpPr>
        <p:spPr>
          <a:xfrm>
            <a:off x="6172200" y="3840480"/>
            <a:ext cx="5440680" cy="2286000"/>
          </a:xfrm>
          <a:prstGeom prst="roundRect">
            <a:avLst>
              <a:gd name="adj" fmla="val 3200"/>
            </a:avLst>
          </a:prstGeom>
          <a:solidFill>
            <a:schemeClr val="bg2"/>
          </a:solidFill>
          <a:ln w="12700">
            <a:solidFill>
              <a:schemeClr val="bg2"/>
            </a:solidFill>
            <a:prstDash val="solid"/>
          </a:ln>
        </p:spPr>
      </p:sp>
      <p:sp>
        <p:nvSpPr>
          <p:cNvPr id="16" name="Text 14"/>
          <p:cNvSpPr txBox="1"/>
          <p:nvPr/>
        </p:nvSpPr>
        <p:spPr>
          <a:xfrm>
            <a:off x="6446520" y="4069080"/>
            <a:ext cx="2651760" cy="548640"/>
          </a:xfrm>
          <a:prstGeom prst="rect">
            <a:avLst/>
          </a:prstGeom>
          <a:noFill/>
          <a:ln/>
        </p:spPr>
        <p:txBody>
          <a:bodyPr wrap="square" lIns="0" tIns="0" rIns="0" bIns="0" rtlCol="0" anchor="t"/>
          <a:lstStyle/>
          <a:p>
            <a:pPr indent="0" marL="0">
              <a:buNone/>
            </a:pPr>
            <a:r>
              <a:rPr lang="en-US" sz="1700" b="1" dirty="0">
                <a:solidFill>
                  <a:schemeClr val="tx1"/>
                </a:solidFill>
              </a:rPr>
              <a:t>Temporal ensembling for ACT</a:t>
            </a:r>
            <a:endParaRPr lang="en-US" sz="1700" dirty="0"/>
          </a:p>
        </p:txBody>
      </p:sp>
      <p:sp>
        <p:nvSpPr>
          <p:cNvPr id="17" name="Text 15"/>
          <p:cNvSpPr txBox="1"/>
          <p:nvPr/>
        </p:nvSpPr>
        <p:spPr>
          <a:xfrm>
            <a:off x="9098280" y="4023360"/>
            <a:ext cx="2286000" cy="548640"/>
          </a:xfrm>
          <a:prstGeom prst="rect">
            <a:avLst/>
          </a:prstGeom>
          <a:noFill/>
          <a:ln/>
        </p:spPr>
        <p:txBody>
          <a:bodyPr wrap="square" lIns="0" tIns="0" rIns="0" bIns="0" rtlCol="0" anchor="t"/>
          <a:lstStyle/>
          <a:p>
            <a:pPr algn="r" indent="0" marL="0">
              <a:buNone/>
            </a:pPr>
            <a:r>
              <a:rPr lang="en-US" sz="2000" b="1" dirty="0">
                <a:solidFill>
                  <a:schemeClr val="accent1"/>
                </a:solidFill>
                <a:latin typeface="Cambria" pitchFamily="34" charset="0"/>
                <a:ea typeface="Cambria" pitchFamily="34" charset="-122"/>
                <a:cs typeface="Cambria" pitchFamily="34" charset="-120"/>
              </a:rPr>
              <a:t>10.7% vs 13.3%</a:t>
            </a:r>
            <a:endParaRPr lang="en-US" sz="2000" dirty="0"/>
          </a:p>
        </p:txBody>
      </p:sp>
      <p:sp>
        <p:nvSpPr>
          <p:cNvPr id="18" name="Text 16"/>
          <p:cNvSpPr txBox="1"/>
          <p:nvPr/>
        </p:nvSpPr>
        <p:spPr>
          <a:xfrm>
            <a:off x="6446520" y="4754880"/>
            <a:ext cx="4892040" cy="1188720"/>
          </a:xfrm>
          <a:prstGeom prst="rect">
            <a:avLst/>
          </a:prstGeom>
          <a:noFill/>
          <a:ln/>
        </p:spPr>
        <p:txBody>
          <a:bodyPr wrap="square" lIns="0" tIns="0" rIns="0" bIns="0" rtlCol="0" anchor="t"/>
          <a:lstStyle/>
          <a:p>
            <a:pPr indent="0" marL="0">
              <a:buNone/>
            </a:pPr>
            <a:r>
              <a:rPr lang="en-US" sz="1400" dirty="0">
                <a:solidFill>
                  <a:schemeClr val="tx2"/>
                </a:solidFill>
              </a:rPr>
              <a:t>The ACT paper's chunk averaging made no difference on this task.</a:t>
            </a:r>
            <a:endParaRPr lang="en-US" sz="14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6400800" cy="2194560"/>
          </a:xfrm>
          <a:prstGeom prst="rect">
            <a:avLst/>
          </a:prstGeom>
          <a:noFill/>
          <a:ln/>
        </p:spPr>
        <p:txBody>
          <a:bodyPr wrap="square" lIns="0" tIns="0" rIns="0" bIns="0" rtlCol="0" anchor="b"/>
          <a:lstStyle/>
          <a:p>
            <a:pPr algn="l" indent="0" marL="0">
              <a:buNone/>
            </a:pPr>
            <a:r>
              <a:rPr lang="en-US" sz="4000" b="1" dirty="0">
                <a:solidFill>
                  <a:schemeClr val="tx1"/>
                </a:solidFill>
              </a:rPr>
              <a:t>Limitations and next steps</a:t>
            </a:r>
            <a:endParaRPr lang="en-US" sz="4000" dirty="0"/>
          </a:p>
        </p:txBody>
      </p:sp>
      <p:sp>
        <p:nvSpPr>
          <p:cNvPr id="3" name="Text 0"/>
          <p:cNvSpPr/>
          <p:nvPr>
            <p:ph idx="101" type="body" hasCustomPrompt="1"/>
          </p:nvPr>
        </p:nvSpPr>
        <p:spPr>
          <a:xfrm>
            <a:off x="548640" y="3749040"/>
            <a:ext cx="6400800" cy="1371600"/>
          </a:xfrm>
          <a:prstGeom prst="rect">
            <a:avLst/>
          </a:prstGeom>
          <a:noFill/>
          <a:ln/>
        </p:spPr>
        <p:txBody>
          <a:bodyPr wrap="square" lIns="0" tIns="0" rIns="0" bIns="0" rtlCol="0" anchor="t"/>
          <a:lstStyle/>
          <a:p>
            <a:pPr algn="l" indent="0" marL="0">
              <a:buNone/>
            </a:pPr>
            <a:r>
              <a:rPr lang="en-US" sz="1800" dirty="0">
                <a:solidFill>
                  <a:schemeClr val="tx2"/>
                </a:solidFill>
              </a:rPr>
              <a:t>Simulation only, three stand-in fruit meshes, keyword-level language, one person at one table. Heights from a top-down phone are noisy.</a:t>
            </a:r>
            <a:endParaRPr lang="en-US" sz="1800" dirty="0"/>
          </a:p>
        </p:txBody>
      </p:sp>
      <p:sp>
        <p:nvSpPr>
          <p:cNvPr id="4" name="Text 2"/>
          <p:cNvSpPr txBox="1"/>
          <p:nvPr/>
        </p:nvSpPr>
        <p:spPr>
          <a:xfrm>
            <a:off x="7406640" y="1463040"/>
            <a:ext cx="4206240" cy="4206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More of my clips: does success keep rising as my clip count grows?</a:t>
            </a:r>
            <a:endParaRPr lang="en-US" sz="1600" dirty="0"/>
          </a:p>
          <a:p>
            <a:pPr marL="342900" indent="-342900">
              <a:spcAft>
                <a:spcPts val="800"/>
              </a:spcAft>
              <a:buSzPct val="100000"/>
              <a:buChar char="•"/>
            </a:pPr>
            <a:r>
              <a:rPr lang="en-US" sz="1600" dirty="0">
                <a:solidFill>
                  <a:schemeClr val="tx1"/>
                </a:solidFill>
              </a:rPr>
              <a:t>Textures from my video on the simulated fruit and bowl: a closer digital twin</a:t>
            </a:r>
            <a:endParaRPr lang="en-US" sz="1600" dirty="0"/>
          </a:p>
          <a:p>
            <a:pPr marL="342900" indent="-342900">
              <a:spcAft>
                <a:spcPts val="800"/>
              </a:spcAft>
              <a:buSzPct val="100000"/>
              <a:buChar char="•"/>
            </a:pPr>
            <a:r>
              <a:rPr lang="en-US" sz="1600" dirty="0">
                <a:solidFill>
                  <a:schemeClr val="tx1"/>
                </a:solidFill>
              </a:rPr>
              <a:t>RL fine-tuning in GPU-parallel simulation, aimed at crowded layouts (88%)</a:t>
            </a:r>
            <a:endParaRPr lang="en-US" sz="1600" dirty="0"/>
          </a:p>
          <a:p>
            <a:pPr marL="342900" indent="-342900">
              <a:spcAft>
                <a:spcPts val="800"/>
              </a:spcAft>
              <a:buSzPct val="100000"/>
              <a:buChar char="•"/>
            </a:pPr>
            <a:r>
              <a:rPr lang="en-US" sz="1600" dirty="0">
                <a:solidFill>
                  <a:schemeClr val="tx1"/>
                </a:solidFill>
              </a:rPr>
              <a:t>Use the world model for short-horizon planning, where it is trusted (2 s)</a:t>
            </a:r>
            <a:endParaRPr lang="en-US" sz="1600" dirty="0"/>
          </a:p>
          <a:p>
            <a:pPr marL="342900" indent="-342900">
              <a:spcAft>
                <a:spcPts val="800"/>
              </a:spcAft>
              <a:buSzPct val="100000"/>
              <a:buChar char="•"/>
            </a:pPr>
            <a:r>
              <a:rPr lang="en-US" sz="1600" dirty="0">
                <a:solidFill>
                  <a:schemeClr val="tx1"/>
                </a:solidFill>
              </a:rPr>
              <a:t>Metric hand tracking from a headset (PICO) to remove height noise</a:t>
            </a:r>
            <a:endParaRPr lang="en-US" sz="1600" dirty="0"/>
          </a:p>
        </p:txBody>
      </p:sp>
    </p:spTree>
  </p:cSld>
  <p:clrMapOvr>
    <a:masterClrMapping/>
  </p:clrMapOvr>
</p:sld>
</file>

<file path=ppt/theme/theme1.xml><?xml version="1.0" encoding="utf-8"?>
<a:theme xmlns:a="http://schemas.openxmlformats.org/drawingml/2006/main" name="Fruit bench">
  <a:themeElements>
    <a:clrScheme name="Fruit bench">
      <a:dk1>
        <a:srgbClr val="1E2422"/>
      </a:dk1>
      <a:lt1>
        <a:srgbClr val="FFFFFF"/>
      </a:lt1>
      <a:dk2>
        <a:srgbClr val="2F3B36"/>
      </a:dk2>
      <a:lt2>
        <a:srgbClr val="F1F3EF"/>
      </a:lt2>
      <a:accent1>
        <a:srgbClr val="D9601F"/>
      </a:accent1>
      <a:accent2>
        <a:srgbClr val="7E9431"/>
      </a:accent2>
      <a:accent3>
        <a:srgbClr val="E39B2D"/>
      </a:accent3>
      <a:accent4>
        <a:srgbClr val="5E7A86"/>
      </a:accent4>
      <a:accent5>
        <a:srgbClr val="9AA39C"/>
      </a:accent5>
      <a:accent6>
        <a:srgbClr val="B23A2E"/>
      </a:accent6>
      <a:hlink>
        <a:srgbClr val="D9601F"/>
      </a:hlink>
      <a:folHlink>
        <a:srgbClr val="5E7A86"/>
      </a:folHlink>
    </a:clrScheme>
    <a:fontScheme name="Fruit ben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Video to Robot Manipulation</dc:title>
  <dc:subject>PptxGenJS Presentation</dc:subject>
  <dc:creator>Mohamed Sobhy</dc:creator>
  <cp:lastModifiedBy>Mohamed Sobhy</cp:lastModifiedBy>
  <cp:revision>1</cp:revision>
  <dcterms:created xsi:type="dcterms:W3CDTF">2026-10-16T20:17:50Z</dcterms:created>
  <dcterms:modified xsi:type="dcterms:W3CDTF">2026-10-16T20:17:50Z</dcterms:modified>
</cp:coreProperties>
</file>